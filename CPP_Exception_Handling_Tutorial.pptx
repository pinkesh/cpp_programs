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C2D4A"/>
                </a:solidFill>
              </a:defRPr>
            </a:pPr>
            <a:r>
              <a:t>C++ Exception Handling</a:t>
            </a:r>
          </a:p>
          <a:p>
            <a:pPr>
              <a:defRPr sz="2100">
                <a:solidFill>
                  <a:srgbClr val="3764AA"/>
                </a:solidFill>
              </a:defRPr>
            </a:pPr>
            <a:r>
              <a:t>From traditional error handling to throw, catch, and rethrow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Learning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830"/>
                </a:solidFill>
              </a:defRPr>
            </a:pPr>
            <a:r>
              <a:t>1. Review of traditional error handling</a:t>
            </a:r>
          </a:p>
          <a:p>
            <a:pPr>
              <a:spcAft>
                <a:spcPts val="1000"/>
              </a:spcAft>
              <a:defRPr sz="1900">
                <a:solidFill>
                  <a:srgbClr val="232830"/>
                </a:solidFill>
              </a:defRPr>
            </a:pPr>
            <a:r>
              <a:t>2. Why exceptions are needed</a:t>
            </a:r>
          </a:p>
          <a:p>
            <a:pPr>
              <a:spcAft>
                <a:spcPts val="1000"/>
              </a:spcAft>
              <a:defRPr sz="1900">
                <a:solidFill>
                  <a:srgbClr val="232830"/>
                </a:solidFill>
              </a:defRPr>
            </a:pPr>
            <a:r>
              <a:t>3. Basics and mechanism: try → throw → catch</a:t>
            </a:r>
          </a:p>
          <a:p>
            <a:pPr>
              <a:spcAft>
                <a:spcPts val="1000"/>
              </a:spcAft>
              <a:defRPr sz="1900">
                <a:solidFill>
                  <a:srgbClr val="232830"/>
                </a:solidFill>
              </a:defRPr>
            </a:pPr>
            <a:r>
              <a:t>4. Throwing and catching: values, objects, multiple handlers</a:t>
            </a:r>
          </a:p>
          <a:p>
            <a:pPr>
              <a:spcAft>
                <a:spcPts val="1000"/>
              </a:spcAft>
              <a:defRPr sz="1900">
                <a:solidFill>
                  <a:srgbClr val="232830"/>
                </a:solidFill>
              </a:defRPr>
            </a:pPr>
            <a:r>
              <a:t>5. Rethrowing: handling locally and passing upward</a:t>
            </a:r>
          </a:p>
          <a:p>
            <a:pPr>
              <a:spcAft>
                <a:spcPts val="1000"/>
              </a:spcAft>
              <a:defRPr sz="1900">
                <a:solidFill>
                  <a:srgbClr val="232830"/>
                </a:solidFill>
              </a:defRPr>
            </a:pPr>
            <a:r>
              <a:t>6. Specifying exceptions: modern C++ rules and noexcept</a:t>
            </a:r>
          </a:p>
          <a:p>
            <a:pPr>
              <a:spcAft>
                <a:spcPts val="1000"/>
              </a:spcAft>
              <a:defRPr sz="1900">
                <a:solidFill>
                  <a:srgbClr val="232830"/>
                </a:solidFill>
              </a:defRPr>
            </a:pPr>
            <a:r>
              <a:t>7. Simple + tricky examples and 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1. Traditional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Before exception handling, errors were often communicated through return values or flags.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577840" cy="411480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72184"/>
            <a:ext cx="5175503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int divide(int a, int b)</a:t>
            </a:r>
            <a:br/>
            <a:r>
              <a:t>{</a:t>
            </a:r>
            <a:br/>
            <a:r>
              <a:t>    if (b == 0)</a:t>
            </a:r>
            <a:br/>
            <a:r>
              <a:t>        return 0;          // Problem: 0 may be a valid result</a:t>
            </a:r>
            <a:br/>
            <a:r>
              <a:t>    return a / b;</a:t>
            </a:r>
            <a:br/>
            <a:r>
              <a:t>}</a:t>
            </a:r>
            <a:br/>
            <a:br/>
            <a:r>
              <a:t>int main()</a:t>
            </a:r>
            <a:br/>
            <a:r>
              <a:t>{</a:t>
            </a:r>
            <a:br/>
            <a:r>
              <a:t>    int result = divide(10, 0);</a:t>
            </a:r>
            <a:br/>
            <a:r>
              <a:t>    cout &lt;&lt; result;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417320"/>
            <a:ext cx="4754880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rPr dirty="0"/>
              <a:t>Caller must remember to check the error convention.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rPr dirty="0"/>
              <a:t>Error information can be mixed with normal return values.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rPr dirty="0"/>
              <a:t>Different functions may use different error conventions.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074920"/>
            <a:ext cx="4754880" cy="640080"/>
          </a:xfrm>
          <a:prstGeom prst="roundRect">
            <a:avLst/>
          </a:prstGeom>
          <a:solidFill>
            <a:srgbClr val="F5F7FA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93992" y="5184648"/>
            <a:ext cx="442569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4141"/>
                </a:solidFill>
              </a:defRPr>
            </a:pPr>
            <a:r>
              <a:t>Tricky: What if 0 is a legitimate answer?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Traditional Handling: Better, But Still Verbose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400800" cy="402336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17904"/>
            <a:ext cx="5998464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bool divide(int a, int b, int&amp; result)</a:t>
            </a:r>
            <a:br/>
            <a:r>
              <a:t>{</a:t>
            </a:r>
            <a:br/>
            <a:r>
              <a:t>    if (b == 0)</a:t>
            </a:r>
            <a:br/>
            <a:r>
              <a:t>        return false;</a:t>
            </a:r>
            <a:br/>
            <a:br/>
            <a:r>
              <a:t>    result = a / b;</a:t>
            </a:r>
            <a:br/>
            <a:r>
              <a:t>    return true;</a:t>
            </a:r>
            <a:br/>
            <a:r>
              <a:t>}</a:t>
            </a:r>
            <a:br/>
            <a:br/>
            <a:r>
              <a:t>// Caller:</a:t>
            </a:r>
            <a:br/>
            <a:r>
              <a:t>int result;</a:t>
            </a:r>
            <a:br/>
            <a:r>
              <a:t>if (!divide(10, 0, result))</a:t>
            </a:r>
            <a:br/>
            <a:r>
              <a:t>    cout &lt;&lt; "Cannot divide by zero";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50876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Separates success from the returned result.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But every caller must propagate/check the status.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Long call chains become repetitive.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Exceptions separate normal logic from exceptional logic.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2. Basics of Exception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830"/>
                </a:solidFill>
              </a:defRPr>
            </a:pPr>
            <a:r>
              <a:t>An exception represents an unusual condition that interrupts normal flow.</a:t>
            </a:r>
          </a:p>
          <a:p>
            <a:pPr>
              <a:spcAft>
                <a:spcPts val="1000"/>
              </a:spcAft>
              <a:defRPr sz="1900">
                <a:solidFill>
                  <a:srgbClr val="232830"/>
                </a:solidFill>
              </a:defRPr>
            </a:pPr>
            <a:r>
              <a:t>try: code that may fail</a:t>
            </a:r>
          </a:p>
          <a:p>
            <a:pPr>
              <a:spcAft>
                <a:spcPts val="1000"/>
              </a:spcAft>
              <a:defRPr sz="1900">
                <a:solidFill>
                  <a:srgbClr val="232830"/>
                </a:solidFill>
              </a:defRPr>
            </a:pPr>
            <a:r>
              <a:t>throw: signals the exceptional condition</a:t>
            </a:r>
          </a:p>
          <a:p>
            <a:pPr>
              <a:spcAft>
                <a:spcPts val="1000"/>
              </a:spcAft>
              <a:defRPr sz="1900">
                <a:solidFill>
                  <a:srgbClr val="232830"/>
                </a:solidFill>
              </a:defRPr>
            </a:pPr>
            <a:r>
              <a:t>catch: receives and handles the exception</a:t>
            </a:r>
          </a:p>
          <a:p>
            <a:pPr>
              <a:spcAft>
                <a:spcPts val="1000"/>
              </a:spcAft>
              <a:defRPr sz="1900">
                <a:solidFill>
                  <a:srgbClr val="232830"/>
                </a:solidFill>
              </a:defRPr>
            </a:pPr>
            <a:r>
              <a:t>The handler can be in the same function or an outer caller.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417320"/>
            <a:ext cx="4846320" cy="393192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39128" y="1563624"/>
            <a:ext cx="4443983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try {</a:t>
            </a:r>
            <a:br/>
            <a:r>
              <a:t>    int x = 10, y = 0;</a:t>
            </a:r>
            <a:br/>
            <a:r>
              <a:t>    if (y == 0)</a:t>
            </a:r>
            <a:br/>
            <a:r>
              <a:t>        throw "Division by zero";</a:t>
            </a:r>
            <a:br/>
            <a:r>
              <a:t>    cout &lt;&lt; x / y;</a:t>
            </a:r>
            <a:br/>
            <a:r>
              <a:t>}</a:t>
            </a:r>
            <a:br/>
            <a:r>
              <a:t>catch (const char* msg) {</a:t>
            </a:r>
            <a:br/>
            <a:r>
              <a:t>    cout &lt;&lt; msg;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3. Exception Handling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Think of it as a controlled jump from the failure point to a matching handler.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219456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37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258568"/>
            <a:ext cx="1975104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64AA"/>
                </a:solidFill>
              </a:defRPr>
            </a:pPr>
            <a:r>
              <a:t>try block</a:t>
            </a:r>
          </a:p>
          <a:p>
            <a:pPr algn="ctr">
              <a:defRPr sz="1300">
                <a:solidFill>
                  <a:srgbClr val="232830"/>
                </a:solidFill>
              </a:defRPr>
            </a:pPr>
            <a:r>
              <a:t>normal code</a:t>
            </a:r>
            <a:br/>
            <a:r>
              <a:t>may fail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57400"/>
            <a:ext cx="219456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38728" y="2258568"/>
            <a:ext cx="1975104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C7D2D"/>
                </a:solidFill>
              </a:defRPr>
            </a:pPr>
            <a:r>
              <a:t>throw</a:t>
            </a:r>
          </a:p>
          <a:p>
            <a:pPr algn="ctr">
              <a:defRPr sz="1300">
                <a:solidFill>
                  <a:srgbClr val="232830"/>
                </a:solidFill>
              </a:defRPr>
            </a:pPr>
            <a:r>
              <a:t>exception</a:t>
            </a:r>
            <a:br/>
            <a:r>
              <a:t>created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57400"/>
            <a:ext cx="219456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27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6208" y="2258568"/>
            <a:ext cx="1975104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78282"/>
                </a:solidFill>
              </a:defRPr>
            </a:pPr>
            <a:r>
              <a:t>search</a:t>
            </a:r>
          </a:p>
          <a:p>
            <a:pPr algn="ctr">
              <a:defRPr sz="1300">
                <a:solidFill>
                  <a:srgbClr val="232830"/>
                </a:solidFill>
              </a:defRPr>
            </a:pPr>
            <a:r>
              <a:t>matching catch</a:t>
            </a:r>
            <a:br/>
            <a:r>
              <a:t>found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057400"/>
            <a:ext cx="219456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32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33688" y="2258568"/>
            <a:ext cx="1975104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28755"/>
                </a:solidFill>
              </a:defRPr>
            </a:pPr>
            <a:r>
              <a:t>catch</a:t>
            </a:r>
          </a:p>
          <a:p>
            <a:pPr algn="ctr">
              <a:defRPr sz="1300">
                <a:solidFill>
                  <a:srgbClr val="232830"/>
                </a:solidFill>
              </a:defRPr>
            </a:pPr>
            <a:r>
              <a:t>handler 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4203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F6976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54203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F6976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54203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F6976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4160520"/>
            <a:ext cx="8229600" cy="731520"/>
          </a:xfrm>
          <a:prstGeom prst="roundRect">
            <a:avLst/>
          </a:prstGeom>
          <a:solidFill>
            <a:srgbClr val="F5F7FA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84832" y="4270248"/>
            <a:ext cx="7900416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4141"/>
                </a:solidFill>
              </a:defRPr>
            </a:pPr>
            <a:r>
              <a:t>Important: after throw, the remaining statements in that try block are skipped.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What Happens After throw?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5303520" cy="448056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472184"/>
            <a:ext cx="4901183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try {</a:t>
            </a:r>
            <a:br/>
            <a:r>
              <a:t>    cout &lt;&lt; "A\n";</a:t>
            </a:r>
            <a:br/>
            <a:r>
              <a:t>    throw 10;</a:t>
            </a:r>
            <a:br/>
            <a:r>
              <a:t>    cout &lt;&lt; "B\n";     // NEVER executes</a:t>
            </a:r>
            <a:br/>
            <a:r>
              <a:t>}</a:t>
            </a:r>
            <a:br/>
            <a:r>
              <a:t>catch (int x) {</a:t>
            </a:r>
            <a:br/>
            <a:r>
              <a:t>    cout &lt;&lt; "C\n";</a:t>
            </a:r>
            <a:br/>
            <a:r>
              <a:t>}</a:t>
            </a:r>
            <a:br/>
            <a:br/>
            <a:r>
              <a:t>cout &lt;&lt; "D\n";</a:t>
            </a:r>
            <a:br/>
            <a:br/>
            <a:r>
              <a:t>// Output:</a:t>
            </a:r>
            <a:br/>
            <a:r>
              <a:t>// A</a:t>
            </a:r>
            <a:br/>
            <a:r>
              <a:t>// C</a:t>
            </a:r>
            <a:br/>
            <a:r>
              <a:t>//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4173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throw transfers control to a matching catch.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Objects created in the abandoned scope are destroyed during stack unwinding.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Execution continues after the catch handler.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If no matching handler exists, the exception moves outward.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4. Throwing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You can throw values, standard exception objects, or your own exception types.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400800" cy="448056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72184"/>
            <a:ext cx="5998464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throw 42;                         // int</a:t>
            </a:r>
            <a:br/>
            <a:r>
              <a:t>throw 3.14;                       // double</a:t>
            </a:r>
            <a:br/>
            <a:r>
              <a:t>throw std::runtime_error("Bad input");</a:t>
            </a:r>
            <a:br/>
            <a:br/>
            <a:r>
              <a:t>class MyError : public std::exception {</a:t>
            </a:r>
            <a:br/>
            <a:r>
              <a:t>public:</a:t>
            </a:r>
            <a:br/>
            <a:r>
              <a:t>    const char* what() const noexcept override {</a:t>
            </a:r>
            <a:br/>
            <a:r>
              <a:t>        return "My custom error";</a:t>
            </a:r>
            <a:br/>
            <a:r>
              <a:t>    }</a:t>
            </a:r>
            <a:br/>
            <a:r>
              <a:t>};</a:t>
            </a:r>
            <a:br/>
            <a:br/>
            <a:r>
              <a:t>throw MyError();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828800"/>
            <a:ext cx="384048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27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16952" y="1938528"/>
            <a:ext cx="3511296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8282"/>
                </a:solidFill>
              </a:defRPr>
            </a:pPr>
            <a:r>
              <a:t>Best practice: prefer meaningful exception types over magic strings/numbers.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429000"/>
            <a:ext cx="384048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37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16952" y="3538728"/>
            <a:ext cx="3511296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764AA"/>
                </a:solidFill>
              </a:defRPr>
            </a:pPr>
            <a:r>
              <a:t>std::runtime_error is useful for many runtime failures.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Catching Mechanism: Type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852160" cy="429768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17904"/>
            <a:ext cx="5449824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try {</a:t>
            </a:r>
            <a:br/>
            <a:r>
              <a:t>    throw 10;</a:t>
            </a:r>
            <a:br/>
            <a:r>
              <a:t>}</a:t>
            </a:r>
            <a:br/>
            <a:r>
              <a:t>catch (double x) {</a:t>
            </a:r>
            <a:br/>
            <a:r>
              <a:t>    cout &lt;&lt; "double";</a:t>
            </a:r>
            <a:br/>
            <a:r>
              <a:t>}</a:t>
            </a:r>
            <a:br/>
            <a:r>
              <a:t>catch (int x) {</a:t>
            </a:r>
            <a:br/>
            <a:r>
              <a:t>    cout &lt;&lt; "int";</a:t>
            </a:r>
            <a:br/>
            <a:r>
              <a:t>}</a:t>
            </a:r>
            <a:br/>
            <a:r>
              <a:t>catch (...) {</a:t>
            </a:r>
            <a:br/>
            <a:r>
              <a:t>    cout &lt;&lt; "anything else";</a:t>
            </a:r>
            <a:br/>
            <a:r>
              <a:t>}</a:t>
            </a:r>
            <a:br/>
            <a:br/>
            <a:r>
              <a:t>// Output: 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46304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Handlers are checked in order.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An exact/appropriate type match is selected.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catch(...) is the catch-all handler and should normally come last.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Only one matching handler runs for a thrown exception.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4846320"/>
            <a:ext cx="448056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68312" y="4956048"/>
            <a:ext cx="415137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4141"/>
                </a:solidFill>
              </a:defRPr>
            </a:pPr>
            <a:r>
              <a:t>Tricky: If catch(...) comes first, later specific catches become unreachable.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Catch by Value vs. const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675120" cy="420624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17904"/>
            <a:ext cx="6272783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try {</a:t>
            </a:r>
            <a:br/>
            <a:r>
              <a:t>    throw std::runtime_error("File missing");</a:t>
            </a:r>
            <a:br/>
            <a:r>
              <a:t>}</a:t>
            </a:r>
            <a:br/>
            <a:r>
              <a:t>catch (std::runtime_error e) {          // copies</a:t>
            </a:r>
            <a:br/>
            <a:r>
              <a:t>    cout &lt;&lt; e.what();</a:t>
            </a:r>
            <a:br/>
            <a:r>
              <a:t>}</a:t>
            </a:r>
            <a:br/>
            <a:br/>
            <a:r>
              <a:t>catch (const std::runtime_error&amp; e) {   // preferred</a:t>
            </a:r>
            <a:br/>
            <a:r>
              <a:t>    cout &lt;&lt; e.what();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141732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catch (T e) copies the exception object.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catch (const T&amp; e) avoids the copy and preserves polymorphic behavior.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For standard exception objects, const reference is the usual choice.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catch by value can accidentally cause slicing with base/derived exception types.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5. Rethrowing an Exception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A function can log/clean up an error and let a higher layer decide how to handle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6766560" cy="489204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380744"/>
            <a:ext cx="6364224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void readFile()</a:t>
            </a:r>
            <a:br/>
            <a:r>
              <a:t>{</a:t>
            </a:r>
            <a:br/>
            <a:r>
              <a:t>    try {</a:t>
            </a:r>
            <a:br/>
            <a:r>
              <a:t>        // file operation</a:t>
            </a:r>
            <a:br/>
            <a:r>
              <a:t>        throw std::runtime_error("Disk error");</a:t>
            </a:r>
            <a:br/>
            <a:r>
              <a:t>    }</a:t>
            </a:r>
            <a:br/>
            <a:r>
              <a:t>    catch (const std::exception&amp; e) {</a:t>
            </a:r>
            <a:br/>
            <a:r>
              <a:t>        log(e.what());</a:t>
            </a:r>
            <a:br/>
            <a:r>
              <a:t>        throw;             // rethrow SAME exception</a:t>
            </a:r>
            <a:br/>
            <a:r>
              <a:t>    }</a:t>
            </a:r>
            <a:br/>
            <a:r>
              <a:t>}</a:t>
            </a:r>
            <a:br/>
            <a:br/>
            <a:r>
              <a:t>try {</a:t>
            </a:r>
            <a:br/>
            <a:r>
              <a:t>    readFile();</a:t>
            </a:r>
            <a:br/>
            <a:r>
              <a:t>}</a:t>
            </a:r>
            <a:br/>
            <a:r>
              <a:t>catch (const std::exception&amp; e) {</a:t>
            </a:r>
            <a:br/>
            <a:r>
              <a:t>    showToUser(e.what());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554480"/>
            <a:ext cx="3657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throw; inside a catch rethrows the currently handled exception.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It preserves the original exception object/type.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Useful for logging, cleanup, metrics, or adding context at another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Tricky: throw; vs throw e;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486400" cy="347472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655063"/>
            <a:ext cx="5084064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catch (const std::exception&amp; e)</a:t>
            </a:r>
            <a:br/>
            <a:r>
              <a:t>{</a:t>
            </a:r>
            <a:br/>
            <a:r>
              <a:t>    throw;     // GOOD: rethrows original exception</a:t>
            </a:r>
            <a:br/>
            <a:r>
              <a:t>}</a:t>
            </a:r>
            <a:br/>
            <a:br/>
            <a:r>
              <a:t>catch (const std::exception&amp; e)</a:t>
            </a:r>
            <a:br/>
            <a:r>
              <a:t>{</a:t>
            </a:r>
            <a:br/>
            <a:r>
              <a:t>    throw e;   // NOT the same: throws a copy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50876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throw; preserves the currently handled exception.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throw e; creates/throws a copy of e.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With polymorphic exceptions, throw e can cause slicing.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Rule of thumb: use throw; when your intent is rethrow.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983480"/>
            <a:ext cx="758952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50592" y="5093208"/>
            <a:ext cx="7260336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7D2D"/>
                </a:solidFill>
              </a:defRPr>
            </a:pPr>
            <a:r>
              <a:t>Interview trap: 'rethrow the same exception' → throw;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6. Specifying Exceptions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Important distinction: old dynamic exception specifications vs. modern noexcept.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Older C++ allowed dynamic exception specifications such as: void f() throw(int);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These dynamic exception specifications were deprecated in C++11 and removed in C++17.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Modern C++ uses noexcept to state that a function is not expected to throw.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noexcept is part of the function's contract and can affect optimization and generic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00200"/>
            <a:ext cx="3840480" cy="292608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99248" y="1746504"/>
            <a:ext cx="3438144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void save() noexcept</a:t>
            </a:r>
            <a:br/>
            <a:r>
              <a:t>{</a:t>
            </a:r>
            <a:br/>
            <a:r>
              <a:t>    // should not let an exception escape</a:t>
            </a:r>
            <a:br/>
            <a:r>
              <a:t>}</a:t>
            </a:r>
            <a:br/>
            <a:br/>
            <a:r>
              <a:t>void process(); // may throw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4754880"/>
            <a:ext cx="3931920" cy="731520"/>
          </a:xfrm>
          <a:prstGeom prst="roundRect">
            <a:avLst/>
          </a:prstGeom>
          <a:solidFill>
            <a:srgbClr val="F5F7FA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16952" y="4864608"/>
            <a:ext cx="3602736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7D2D"/>
                </a:solidFill>
              </a:defRPr>
            </a:pPr>
            <a:r>
              <a:t>Use noexcept deliberately—not as a replacement for handling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noexcept: A Tricky Behavior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400800" cy="411480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63624"/>
            <a:ext cx="5998464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void dangerous() noexcept</a:t>
            </a:r>
            <a:br/>
            <a:r>
              <a:t>{</a:t>
            </a:r>
            <a:br/>
            <a:r>
              <a:t>    throw std::runtime_error("Oops");</a:t>
            </a:r>
            <a:br/>
            <a:r>
              <a:t>}</a:t>
            </a:r>
            <a:br/>
            <a:br/>
            <a:r>
              <a:t>int main()</a:t>
            </a:r>
            <a:br/>
            <a:r>
              <a:t>{</a:t>
            </a:r>
            <a:br/>
            <a:r>
              <a:t>    dangerous();</a:t>
            </a:r>
            <a:br/>
            <a:r>
              <a:t>}</a:t>
            </a:r>
            <a:br/>
            <a:br/>
            <a:r>
              <a:t>// The exception cannot escape a noexcept</a:t>
            </a:r>
            <a:br/>
            <a:r>
              <a:t>// function → std::terminate() is called.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508760"/>
            <a:ext cx="3840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noexcept does NOT catch an exception.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If an exception escapes a noexcept function, the program calls std::terminate().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Do not mark a function noexcept if it can legitimately propagate exceptions.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4709160"/>
            <a:ext cx="406908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34072" y="4818888"/>
            <a:ext cx="373989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4141"/>
                </a:solidFill>
              </a:defRPr>
            </a:pPr>
            <a:r>
              <a:t>Think: 'I promise this function will not let an exception escape.'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Nested Functions: Where Does the Exception Go?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6492240" cy="466344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426463"/>
            <a:ext cx="6089903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void C() {</a:t>
            </a:r>
            <a:br/>
            <a:r>
              <a:t>    throw std::runtime_error("Error in C");</a:t>
            </a:r>
            <a:br/>
            <a:r>
              <a:t>}</a:t>
            </a:r>
            <a:br/>
            <a:br/>
            <a:r>
              <a:t>void B() {</a:t>
            </a:r>
            <a:br/>
            <a:r>
              <a:t>    C();                 // no catch here</a:t>
            </a:r>
            <a:br/>
            <a:r>
              <a:t>}</a:t>
            </a:r>
            <a:br/>
            <a:br/>
            <a:r>
              <a:t>void A() {</a:t>
            </a:r>
            <a:br/>
            <a:r>
              <a:t>    try {</a:t>
            </a:r>
            <a:br/>
            <a:r>
              <a:t>        B();</a:t>
            </a:r>
            <a:br/>
            <a:r>
              <a:t>    }</a:t>
            </a:r>
            <a:br/>
            <a:r>
              <a:t>    catch (const std::exception&amp; e) {</a:t>
            </a:r>
            <a:br/>
            <a:r>
              <a:t>        cout &lt;&lt; e.what();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46304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C throws.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B has no matching handler, so the exception moves outward.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A has a matching handler, so A catches it.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This is stack unwinding: intermediate functions are exited until a handler is found.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Common Mistakes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❌ Catching everything with catch(...) and hiding the real problem.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❌ Catching standard exceptions by value when const reference is appropriate.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❌ Writing catch(...) before specific catch handlers.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❌ Using throw e; when you intended to rethrow the original exception.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❌ Throwing from a noexcept function without understanding std::terminate().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❌ Using exceptions for ordinary control flow such as normal user input validation loops.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Practical Example: Safe Division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583680" cy="484632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380744"/>
            <a:ext cx="6181344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double divide(double a, double b)</a:t>
            </a:r>
            <a:br/>
            <a:r>
              <a:t>{</a:t>
            </a:r>
            <a:br/>
            <a:r>
              <a:t>    if (b == 0)</a:t>
            </a:r>
            <a:br/>
            <a:r>
              <a:t>        throw std::invalid_argument("b cannot be zero");</a:t>
            </a:r>
            <a:br/>
            <a:br/>
            <a:r>
              <a:t>    return a / b;</a:t>
            </a:r>
            <a:br/>
            <a:r>
              <a:t>}</a:t>
            </a:r>
            <a:br/>
            <a:br/>
            <a:r>
              <a:t>int main()</a:t>
            </a:r>
            <a:br/>
            <a:r>
              <a:t>{</a:t>
            </a:r>
            <a:br/>
            <a:r>
              <a:t>    try {</a:t>
            </a:r>
            <a:br/>
            <a:r>
              <a:t>        cout &lt;&lt; divide(10, 0);</a:t>
            </a:r>
            <a:br/>
            <a:r>
              <a:t>    }</a:t>
            </a:r>
            <a:br/>
            <a:r>
              <a:t>    catch (const std::invalid_argument&amp; e) {</a:t>
            </a:r>
            <a:br/>
            <a:r>
              <a:t>        cout &lt;&lt; "Input error: " &lt;&lt; e.what();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508760"/>
            <a:ext cx="37490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Function detects the exceptional condition.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It throws a meaningful standard exception.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main decides how to present the error.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Normal return value remains a real double—not an error flag.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Practical Example: Resource Cleanup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RAII is the C++ way to make cleanup happen automatically—even during exceptions.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486400" cy="347472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563624"/>
            <a:ext cx="5084064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void work()</a:t>
            </a:r>
            <a:br/>
            <a:r>
              <a:t>{</a:t>
            </a:r>
            <a:br/>
            <a:r>
              <a:t>    std::vector&lt;int&gt; data(1000);</a:t>
            </a:r>
            <a:br/>
            <a:br/>
            <a:r>
              <a:t>    // If an exception occurs here...</a:t>
            </a:r>
            <a:br/>
            <a:r>
              <a:t>    riskyOperation();</a:t>
            </a:r>
            <a:br/>
            <a:br/>
            <a:r>
              <a:t>    // data is still destroyed automatically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50876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Local objects are destroyed during stack unwinding.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Prefer RAII containers and smart pointers instead of manual cleanup.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Examples: std::vector, std::string, std::unique_ptr, file/lock wrapper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4983480"/>
            <a:ext cx="7772400" cy="731520"/>
          </a:xfrm>
          <a:prstGeom prst="roundRect">
            <a:avLst/>
          </a:prstGeom>
          <a:solidFill>
            <a:srgbClr val="F5F7FA"/>
          </a:solidFill>
          <a:ln>
            <a:solidFill>
              <a:srgbClr val="32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59152" y="5093208"/>
            <a:ext cx="7443216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755"/>
                </a:solidFill>
              </a:defRPr>
            </a:pPr>
            <a:r>
              <a:t>Exception safety is easier when resource ownership is tied to object lifetime.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Quick Challenge: Predict the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6217920" cy="4389120"/>
          </a:xfrm>
          <a:prstGeom prst="roundRect">
            <a:avLst/>
          </a:prstGeom>
          <a:solidFill>
            <a:srgbClr val="1D2127"/>
          </a:solidFill>
          <a:ln>
            <a:solidFill>
              <a:srgbClr val="1D2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517904"/>
            <a:ext cx="5815583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try {</a:t>
            </a:r>
            <a:br/>
            <a:r>
              <a:t>    cout &lt;&lt; "1 ";</a:t>
            </a:r>
            <a:br/>
            <a:r>
              <a:t>    try {</a:t>
            </a:r>
            <a:br/>
            <a:r>
              <a:t>        cout &lt;&lt; "2 ";</a:t>
            </a:r>
            <a:br/>
            <a:r>
              <a:t>        throw 99;</a:t>
            </a:r>
            <a:br/>
            <a:r>
              <a:t>        cout &lt;&lt; "3 ";</a:t>
            </a:r>
            <a:br/>
            <a:r>
              <a:t>    }</a:t>
            </a:r>
            <a:br/>
            <a:r>
              <a:t>    catch (const char* e) {</a:t>
            </a:r>
            <a:br/>
            <a:r>
              <a:t>        cout &lt;&lt; "4 ";</a:t>
            </a:r>
            <a:br/>
            <a:r>
              <a:t>    }</a:t>
            </a:r>
            <a:br/>
            <a:r>
              <a:t>    cout &lt;&lt; "5 ";</a:t>
            </a:r>
            <a:br/>
            <a:r>
              <a:t>}</a:t>
            </a:r>
            <a:br/>
            <a:r>
              <a:t>catch (int x) {</a:t>
            </a:r>
            <a:br/>
            <a:r>
              <a:t>    cout &lt;&lt; "6 ";</a:t>
            </a:r>
            <a:br/>
            <a:r>
              <a:t>}</a:t>
            </a:r>
            <a:br/>
            <a:r>
              <a:t>cout &lt;&lt; "7 ";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55448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Question: What is printed?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Hint: inner catch expects const char*, but throw sends int.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Therefore inner catch does not match.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The exception moves to the outer catch(int).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4892040"/>
            <a:ext cx="393192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79792" y="5001768"/>
            <a:ext cx="3602736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7D2D"/>
                </a:solidFill>
              </a:defRPr>
            </a:pPr>
            <a:r>
              <a:t>Answer: 1 2 6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Summary /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Traditional errors → return codes/flags can clutter normal logic.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try = protect a region of code.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throw = signal an exceptional condition.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catch = handle a matching exception.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Stack unwinding = exit scopes until a matching handler is found.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throw; = rethrow the same currently handled exception.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catch (const T&amp;) = common preferred pattern for exception objects.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noexcept = promise that an exception will not escape the function.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5715000"/>
            <a:ext cx="932688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37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27632" y="5824728"/>
            <a:ext cx="8997696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764AA"/>
                </a:solidFill>
              </a:defRPr>
            </a:pPr>
            <a:r>
              <a:t>Golden pattern: detect → throw meaningful type → catch at the right layer → log/handle → rethrow if necessary.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Practice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1. Write divide() using std::invalid_argument and handle it in main().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2. Create InvalidAge and InvalidSalary custom exception classes.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3. Write nested A() → B() → C() and demonstrate stack unwinding.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4. Log an exception in B(), then rethrow it to A() using throw;.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5. Demonstrate slicing with Base/Derived exceptions and fix it.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6. Predict output for a program with 3 catch handlers in different orders.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7. Create a noexcept function and demonstrate why throwing from it terminates the program.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8. Build a menu program where input errors use exceptions but normal validation uses loops.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C++ Exception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2363</Words>
  <Application>Microsoft Office PowerPoint</Application>
  <PresentationFormat>Widescreen</PresentationFormat>
  <Paragraphs>188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Exception Handling Tutorial</dc:title>
  <dc:subject>Traditional error handling, exceptions, throw/catch, rethrow, noexcept</dc:subject>
  <dc:creator>OpenAI</dc:creator>
  <cp:keywords/>
  <dc:description>generated using python-pptx</dc:description>
  <cp:lastModifiedBy>Pinkeshkumar Patel</cp:lastModifiedBy>
  <cp:revision>2</cp:revision>
  <dcterms:created xsi:type="dcterms:W3CDTF">2013-01-27T09:14:16Z</dcterms:created>
  <dcterms:modified xsi:type="dcterms:W3CDTF">2026-09-11T13:40:05Z</dcterms:modified>
  <cp:category/>
</cp:coreProperties>
</file>