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3" r:id="rId18"/>
    <p:sldId id="274" r:id="rId19"/>
    <p:sldId id="275" r:id="rId20"/>
    <p:sldId id="276" r:id="rId21"/>
    <p:sldId id="283" r:id="rId2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64" d="100"/>
          <a:sy n="64" d="100"/>
        </p:scale>
        <p:origin x="954" y="7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824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1078992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FFFFFF"/>
                </a:solidFill>
              </a:defRPr>
            </a:pPr>
            <a:r>
              <a:t>C++ Inheritance &amp; Polymorphism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554480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C8D2E1"/>
                </a:solidFill>
              </a:defRPr>
            </a:pPr>
            <a:r>
              <a:rPr dirty="0"/>
              <a:t>From code reuse to dynamic method selection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81360" y="6473952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D697A"/>
                </a:solidFill>
              </a:defRPr>
            </a:pPr>
            <a:r>
              <a:t>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4114800"/>
            <a:ext cx="2103120" cy="822960"/>
          </a:xfrm>
          <a:prstGeom prst="roundRect">
            <a:avLst/>
          </a:prstGeom>
          <a:solidFill>
            <a:srgbClr val="3465A4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60120" y="4187952"/>
            <a:ext cx="2011679" cy="6858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Base Class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0" y="4114800"/>
            <a:ext cx="2286000" cy="822960"/>
          </a:xfrm>
          <a:prstGeom prst="roundRect">
            <a:avLst/>
          </a:prstGeom>
          <a:solidFill>
            <a:srgbClr val="368C5E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617720" y="4187952"/>
            <a:ext cx="2194560" cy="6858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Derived Class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3063240" y="4526280"/>
            <a:ext cx="1508760" cy="0"/>
          </a:xfrm>
          <a:prstGeom prst="line">
            <a:avLst/>
          </a:prstGeom>
          <a:ln w="25400">
            <a:solidFill>
              <a:srgbClr val="5D69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82440"/>
                </a:solidFill>
              </a:defRPr>
            </a:pPr>
            <a:r>
              <a:t>1. What is Inheritance?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32688"/>
            <a:ext cx="10789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5D697A"/>
                </a:solidFill>
              </a:defRPr>
            </a:pPr>
            <a:r>
              <a:t>A derived class acquires accessible members of a base class.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81360" y="6473952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D697A"/>
                </a:solidFill>
              </a:defRPr>
            </a:pPr>
            <a:r>
              <a:t>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417320"/>
            <a:ext cx="6858000" cy="4526280"/>
          </a:xfrm>
          <a:prstGeom prst="roundRect">
            <a:avLst/>
          </a:prstGeom>
          <a:solidFill>
            <a:srgbClr val="1F26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14400" y="1600200"/>
            <a:ext cx="6400800" cy="4160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FFFFFF"/>
                </a:solidFill>
                <a:latin typeface="Consolas"/>
              </a:defRPr>
            </a:pPr>
            <a:r>
              <a:t>class Animal {</a:t>
            </a:r>
            <a:br/>
            <a:r>
              <a:t>public:</a:t>
            </a:r>
            <a:br/>
            <a:r>
              <a:t>    void eat() { cout &lt;&lt; "Eating"; }</a:t>
            </a:r>
            <a:br/>
            <a:r>
              <a:t>};</a:t>
            </a:r>
            <a:br/>
            <a:br/>
            <a:r>
              <a:t>class Dog : public Animal {</a:t>
            </a:r>
            <a:br/>
            <a:r>
              <a:t>public:</a:t>
            </a:r>
            <a:br/>
            <a:r>
              <a:t>    void bark() { cout &lt;&lt; "Barking"; }</a:t>
            </a:r>
            <a:br/>
            <a:r>
              <a:t>};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909560" y="1828800"/>
            <a:ext cx="3291840" cy="914400"/>
          </a:xfrm>
          <a:prstGeom prst="roundRect">
            <a:avLst/>
          </a:prstGeom>
          <a:solidFill>
            <a:srgbClr val="368C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092440" y="1965960"/>
            <a:ext cx="29260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Dog IS-A Animal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818120" y="3017520"/>
            <a:ext cx="356616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500">
                <a:solidFill>
                  <a:srgbClr val="232B37"/>
                </a:solidFill>
              </a:defRPr>
            </a:pPr>
            <a:r>
              <a:t>Code reuse</a:t>
            </a:r>
          </a:p>
          <a:p>
            <a:pPr>
              <a:spcAft>
                <a:spcPts val="1200"/>
              </a:spcAft>
              <a:defRPr sz="1500">
                <a:solidFill>
                  <a:srgbClr val="232B37"/>
                </a:solidFill>
              </a:defRPr>
            </a:pPr>
            <a:r>
              <a:t>Specialization: add new behavior</a:t>
            </a:r>
          </a:p>
          <a:p>
            <a:pPr>
              <a:spcAft>
                <a:spcPts val="1200"/>
              </a:spcAft>
              <a:defRPr sz="1500">
                <a:solidFill>
                  <a:srgbClr val="232B37"/>
                </a:solidFill>
              </a:defRPr>
            </a:pPr>
            <a:r>
              <a:t>Derived object can use inherited members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82440"/>
                </a:solidFill>
              </a:defRPr>
            </a:pPr>
            <a:r>
              <a:t>Inheritance Access Modes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32688"/>
            <a:ext cx="10789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5D697A"/>
                </a:solidFill>
              </a:defRPr>
            </a:pPr>
            <a:r>
              <a:t>public / protected / private inheritance changes how inherited members are exposed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81360" y="6473952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D697A"/>
                </a:solidFill>
              </a:defRPr>
            </a:pPr>
            <a:r>
              <a:t>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417320"/>
            <a:ext cx="6675120" cy="4297680"/>
          </a:xfrm>
          <a:prstGeom prst="roundRect">
            <a:avLst/>
          </a:prstGeom>
          <a:solidFill>
            <a:srgbClr val="1F26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14400" y="1600200"/>
            <a:ext cx="6217920" cy="3931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FFFFFF"/>
                </a:solidFill>
                <a:latin typeface="Consolas"/>
              </a:defRPr>
            </a:pPr>
            <a:r>
              <a:t>class Base {</a:t>
            </a:r>
            <a:br/>
            <a:r>
              <a:t>public:    int a;</a:t>
            </a:r>
            <a:br/>
            <a:r>
              <a:t>protected: int b;</a:t>
            </a:r>
            <a:br/>
            <a:r>
              <a:t>private:   int c;</a:t>
            </a:r>
            <a:br/>
            <a:r>
              <a:t>};</a:t>
            </a:r>
            <a:br/>
            <a:br/>
            <a:r>
              <a:t>class D : public Base { };</a:t>
            </a:r>
            <a:br/>
            <a:r>
              <a:t>// a -&gt; public in D</a:t>
            </a:r>
            <a:br/>
            <a:r>
              <a:t>// b -&gt; protected in D</a:t>
            </a:r>
            <a:br/>
            <a:r>
              <a:t>// c -&gt; not directly accessible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80960" y="1645920"/>
            <a:ext cx="3749039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600">
                <a:solidFill>
                  <a:srgbClr val="232B37"/>
                </a:solidFill>
              </a:defRPr>
            </a:pPr>
            <a:r>
              <a:t>Private members still exist in the Base part.</a:t>
            </a:r>
          </a:p>
          <a:p>
            <a:pPr>
              <a:spcAft>
                <a:spcPts val="1200"/>
              </a:spcAft>
              <a:defRPr sz="1600">
                <a:solidFill>
                  <a:srgbClr val="232B37"/>
                </a:solidFill>
              </a:defRPr>
            </a:pPr>
            <a:r>
              <a:t>They are not directly accessible from Derived.</a:t>
            </a:r>
          </a:p>
          <a:p>
            <a:pPr>
              <a:spcAft>
                <a:spcPts val="1200"/>
              </a:spcAft>
              <a:defRPr sz="1600">
                <a:solidFill>
                  <a:srgbClr val="232B37"/>
                </a:solidFill>
              </a:defRPr>
            </a:pPr>
            <a:r>
              <a:t>Use protected carefully: it increases coupling.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82440"/>
                </a:solidFill>
              </a:defRPr>
            </a:pPr>
            <a:r>
              <a:t>2. Single Inheritance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881360" y="6473952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D697A"/>
                </a:solidFill>
              </a:defRPr>
            </a:pPr>
            <a:r>
              <a:t>5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828800" y="2286000"/>
            <a:ext cx="1920240" cy="777240"/>
          </a:xfrm>
          <a:prstGeom prst="roundRect">
            <a:avLst/>
          </a:prstGeom>
          <a:solidFill>
            <a:srgbClr val="3465A4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874519" y="2359152"/>
            <a:ext cx="1828800" cy="6400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Animal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120640" y="3749039"/>
            <a:ext cx="1920240" cy="777240"/>
          </a:xfrm>
          <a:prstGeom prst="roundRect">
            <a:avLst/>
          </a:prstGeom>
          <a:solidFill>
            <a:srgbClr val="368C5E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166359" y="3822191"/>
            <a:ext cx="1828800" cy="6400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Dog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3749039" y="3063240"/>
            <a:ext cx="1371601" cy="914399"/>
          </a:xfrm>
          <a:prstGeom prst="line">
            <a:avLst/>
          </a:prstGeom>
          <a:ln w="25400">
            <a:solidFill>
              <a:srgbClr val="5D69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3657600" y="4892040"/>
            <a:ext cx="4480560" cy="822960"/>
          </a:xfrm>
          <a:prstGeom prst="roundRect">
            <a:avLst/>
          </a:prstGeom>
          <a:solidFill>
            <a:srgbClr val="2A9D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840480" y="5029200"/>
            <a:ext cx="4114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One base → one derived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82440"/>
                </a:solidFill>
              </a:defRPr>
            </a:pPr>
            <a:r>
              <a:t>Multiple Inheritance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881360" y="6473952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D697A"/>
                </a:solidFill>
              </a:defRPr>
            </a:pPr>
            <a:r>
              <a:t>6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97280" y="1828800"/>
            <a:ext cx="1920240" cy="731520"/>
          </a:xfrm>
          <a:prstGeom prst="roundRect">
            <a:avLst/>
          </a:prstGeom>
          <a:solidFill>
            <a:srgbClr val="7052A8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143000" y="1901952"/>
            <a:ext cx="1828800" cy="5943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Camera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97280" y="3840480"/>
            <a:ext cx="1920240" cy="731520"/>
          </a:xfrm>
          <a:prstGeom prst="roundRect">
            <a:avLst/>
          </a:prstGeom>
          <a:solidFill>
            <a:srgbClr val="3465A4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143000" y="3913632"/>
            <a:ext cx="1828800" cy="5943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Phone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120640" y="2788920"/>
            <a:ext cx="2286000" cy="822960"/>
          </a:xfrm>
          <a:prstGeom prst="roundRect">
            <a:avLst/>
          </a:prstGeom>
          <a:solidFill>
            <a:srgbClr val="368C5E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166359" y="2862072"/>
            <a:ext cx="2194560" cy="6858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SmartPhone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3017520" y="2194560"/>
            <a:ext cx="2103120" cy="868680"/>
          </a:xfrm>
          <a:prstGeom prst="line">
            <a:avLst/>
          </a:prstGeom>
          <a:ln w="25400">
            <a:solidFill>
              <a:srgbClr val="5D69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 flipV="1">
            <a:off x="3017520" y="3337560"/>
            <a:ext cx="2103120" cy="868680"/>
          </a:xfrm>
          <a:prstGeom prst="line">
            <a:avLst/>
          </a:prstGeom>
          <a:ln w="25400">
            <a:solidFill>
              <a:srgbClr val="5D69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7955279" y="2743200"/>
            <a:ext cx="2926080" cy="914400"/>
          </a:xfrm>
          <a:prstGeom prst="roundRect">
            <a:avLst/>
          </a:prstGeom>
          <a:solidFill>
            <a:srgbClr val="E88B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138159" y="2880360"/>
            <a:ext cx="25603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Two or more base classes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82440"/>
                </a:solidFill>
              </a:defRPr>
            </a:pPr>
            <a:r>
              <a:t>Multilevel Inheritance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881360" y="6473952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D697A"/>
                </a:solidFill>
              </a:defRPr>
            </a:pPr>
            <a:r>
              <a:t>7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2926080"/>
            <a:ext cx="1828800" cy="731520"/>
          </a:xfrm>
          <a:prstGeom prst="roundRect">
            <a:avLst/>
          </a:prstGeom>
          <a:solidFill>
            <a:srgbClr val="3465A4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60120" y="2999232"/>
            <a:ext cx="1737360" cy="5943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Person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657600" y="2926080"/>
            <a:ext cx="1828800" cy="731520"/>
          </a:xfrm>
          <a:prstGeom prst="roundRect">
            <a:avLst/>
          </a:prstGeom>
          <a:solidFill>
            <a:srgbClr val="2A9DBD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703320" y="2999232"/>
            <a:ext cx="1737360" cy="5943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Employee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0" y="2926080"/>
            <a:ext cx="1828800" cy="731520"/>
          </a:xfrm>
          <a:prstGeom prst="roundRect">
            <a:avLst/>
          </a:prstGeom>
          <a:solidFill>
            <a:srgbClr val="368C5E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446520" y="2999232"/>
            <a:ext cx="1737360" cy="5943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Manager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144000" y="2926080"/>
            <a:ext cx="1828800" cy="731520"/>
          </a:xfrm>
          <a:prstGeom prst="roundRect">
            <a:avLst/>
          </a:prstGeom>
          <a:solidFill>
            <a:srgbClr val="E88B2D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9189720" y="2999232"/>
            <a:ext cx="1737360" cy="5943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Director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2743200" y="3291840"/>
            <a:ext cx="914400" cy="0"/>
          </a:xfrm>
          <a:prstGeom prst="line">
            <a:avLst/>
          </a:prstGeom>
          <a:ln w="25400">
            <a:solidFill>
              <a:srgbClr val="5D69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5486400" y="3291840"/>
            <a:ext cx="914400" cy="0"/>
          </a:xfrm>
          <a:prstGeom prst="line">
            <a:avLst/>
          </a:prstGeom>
          <a:ln w="25400">
            <a:solidFill>
              <a:srgbClr val="5D69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8229600" y="3291840"/>
            <a:ext cx="914400" cy="0"/>
          </a:xfrm>
          <a:prstGeom prst="line">
            <a:avLst/>
          </a:prstGeom>
          <a:ln w="25400">
            <a:solidFill>
              <a:srgbClr val="5D69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4114800" y="4572000"/>
            <a:ext cx="3931920" cy="777240"/>
          </a:xfrm>
          <a:prstGeom prst="roundRect">
            <a:avLst/>
          </a:prstGeom>
          <a:solidFill>
            <a:srgbClr val="7052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4297680" y="4709160"/>
            <a:ext cx="35661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Inheritance chain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82440"/>
                </a:solidFill>
              </a:defRPr>
            </a:pPr>
            <a:r>
              <a:t>Hierarchical Inheritance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881360" y="6473952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D697A"/>
                </a:solidFill>
              </a:defRPr>
            </a:pPr>
            <a:r>
              <a:t>8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120640" y="1554480"/>
            <a:ext cx="1920240" cy="731520"/>
          </a:xfrm>
          <a:prstGeom prst="roundRect">
            <a:avLst/>
          </a:prstGeom>
          <a:solidFill>
            <a:srgbClr val="3465A4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166359" y="1627632"/>
            <a:ext cx="1828800" cy="5943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Shape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97280" y="3931920"/>
            <a:ext cx="1828800" cy="731520"/>
          </a:xfrm>
          <a:prstGeom prst="roundRect">
            <a:avLst/>
          </a:prstGeom>
          <a:solidFill>
            <a:srgbClr val="368C5E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143000" y="4005072"/>
            <a:ext cx="1737360" cy="5943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Circle</a:t>
            </a:r>
          </a:p>
        </p:txBody>
      </p:sp>
      <p:cxnSp>
        <p:nvCxnSpPr>
          <p:cNvPr id="9" name="Connector 8"/>
          <p:cNvCxnSpPr/>
          <p:nvPr/>
        </p:nvCxnSpPr>
        <p:spPr>
          <a:xfrm flipH="1">
            <a:off x="2011680" y="2286000"/>
            <a:ext cx="4069080" cy="1645920"/>
          </a:xfrm>
          <a:prstGeom prst="line">
            <a:avLst/>
          </a:prstGeom>
          <a:ln w="25400">
            <a:solidFill>
              <a:srgbClr val="5D69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3657600" y="3931920"/>
            <a:ext cx="1828800" cy="731520"/>
          </a:xfrm>
          <a:prstGeom prst="roundRect">
            <a:avLst/>
          </a:prstGeom>
          <a:solidFill>
            <a:srgbClr val="2A9DBD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703320" y="4005072"/>
            <a:ext cx="1737360" cy="5943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Rectangle</a:t>
            </a:r>
          </a:p>
        </p:txBody>
      </p:sp>
      <p:cxnSp>
        <p:nvCxnSpPr>
          <p:cNvPr id="12" name="Connector 11"/>
          <p:cNvCxnSpPr/>
          <p:nvPr/>
        </p:nvCxnSpPr>
        <p:spPr>
          <a:xfrm flipH="1">
            <a:off x="4572000" y="2286000"/>
            <a:ext cx="1508760" cy="1645920"/>
          </a:xfrm>
          <a:prstGeom prst="line">
            <a:avLst/>
          </a:prstGeom>
          <a:ln w="25400">
            <a:solidFill>
              <a:srgbClr val="5D69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6309360" y="3931920"/>
            <a:ext cx="1828800" cy="731520"/>
          </a:xfrm>
          <a:prstGeom prst="roundRect">
            <a:avLst/>
          </a:prstGeom>
          <a:solidFill>
            <a:srgbClr val="E88B2D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355080" y="4005072"/>
            <a:ext cx="1737360" cy="5943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Triangle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6080760" y="2286000"/>
            <a:ext cx="1143000" cy="1645920"/>
          </a:xfrm>
          <a:prstGeom prst="line">
            <a:avLst/>
          </a:prstGeom>
          <a:ln w="25400">
            <a:solidFill>
              <a:srgbClr val="5D69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8869680" y="3931920"/>
            <a:ext cx="1828800" cy="731520"/>
          </a:xfrm>
          <a:prstGeom prst="roundRect">
            <a:avLst/>
          </a:prstGeom>
          <a:solidFill>
            <a:srgbClr val="7052A8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915400" y="4005072"/>
            <a:ext cx="1737360" cy="5943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Square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6080760" y="2286000"/>
            <a:ext cx="3703320" cy="1645920"/>
          </a:xfrm>
          <a:prstGeom prst="line">
            <a:avLst/>
          </a:prstGeom>
          <a:ln w="25400">
            <a:solidFill>
              <a:srgbClr val="5D69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3749039" y="5486400"/>
            <a:ext cx="4572000" cy="685800"/>
          </a:xfrm>
          <a:prstGeom prst="roundRect">
            <a:avLst/>
          </a:prstGeom>
          <a:solidFill>
            <a:srgbClr val="2A9D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3931920" y="5623560"/>
            <a:ext cx="42062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One base → many derived classes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82440"/>
                </a:solidFill>
              </a:defRPr>
            </a:pPr>
            <a:r>
              <a:t>Hybrid Inheritance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32688"/>
            <a:ext cx="10789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5D697A"/>
                </a:solidFill>
              </a:defRPr>
            </a:pPr>
            <a:r>
              <a:t>Combination of two or more inheritance types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81360" y="6473952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D697A"/>
                </a:solidFill>
              </a:defRPr>
            </a:pPr>
            <a:r>
              <a:t>9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120640" y="1188720"/>
            <a:ext cx="1463040" cy="640080"/>
          </a:xfrm>
          <a:prstGeom prst="roundRect">
            <a:avLst/>
          </a:prstGeom>
          <a:solidFill>
            <a:srgbClr val="3465A4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166359" y="1261872"/>
            <a:ext cx="1371600" cy="502919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A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194560" y="2834640"/>
            <a:ext cx="1463040" cy="640080"/>
          </a:xfrm>
          <a:prstGeom prst="roundRect">
            <a:avLst/>
          </a:prstGeom>
          <a:solidFill>
            <a:srgbClr val="368C5E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2240279" y="2907792"/>
            <a:ext cx="1371600" cy="502919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B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46720" y="2834640"/>
            <a:ext cx="1463040" cy="640080"/>
          </a:xfrm>
          <a:prstGeom prst="roundRect">
            <a:avLst/>
          </a:prstGeom>
          <a:solidFill>
            <a:srgbClr val="368C5E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092440" y="2907792"/>
            <a:ext cx="1371600" cy="502919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C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120640" y="4572000"/>
            <a:ext cx="1463040" cy="640080"/>
          </a:xfrm>
          <a:prstGeom prst="roundRect">
            <a:avLst/>
          </a:prstGeom>
          <a:solidFill>
            <a:srgbClr val="E88B2D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166359" y="4645152"/>
            <a:ext cx="1371600" cy="502919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D</a:t>
            </a:r>
          </a:p>
        </p:txBody>
      </p:sp>
      <p:cxnSp>
        <p:nvCxnSpPr>
          <p:cNvPr id="14" name="Connector 13"/>
          <p:cNvCxnSpPr/>
          <p:nvPr/>
        </p:nvCxnSpPr>
        <p:spPr>
          <a:xfrm flipH="1">
            <a:off x="2926080" y="1828800"/>
            <a:ext cx="2560320" cy="1005840"/>
          </a:xfrm>
          <a:prstGeom prst="line">
            <a:avLst/>
          </a:prstGeom>
          <a:ln w="25400">
            <a:solidFill>
              <a:srgbClr val="5D69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6217920" y="1828800"/>
            <a:ext cx="2194560" cy="1005840"/>
          </a:xfrm>
          <a:prstGeom prst="line">
            <a:avLst/>
          </a:prstGeom>
          <a:ln w="25400">
            <a:solidFill>
              <a:srgbClr val="5D69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3566160" y="3474720"/>
            <a:ext cx="1828800" cy="1097280"/>
          </a:xfrm>
          <a:prstGeom prst="line">
            <a:avLst/>
          </a:prstGeom>
          <a:ln w="25400">
            <a:solidFill>
              <a:srgbClr val="5D69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 flipH="1">
            <a:off x="6309360" y="3474720"/>
            <a:ext cx="1920240" cy="1097280"/>
          </a:xfrm>
          <a:prstGeom prst="line">
            <a:avLst/>
          </a:prstGeom>
          <a:ln w="25400">
            <a:solidFill>
              <a:srgbClr val="5D69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3977639" y="5623560"/>
            <a:ext cx="4206240" cy="640080"/>
          </a:xfrm>
          <a:prstGeom prst="roundRect">
            <a:avLst/>
          </a:prstGeom>
          <a:solidFill>
            <a:srgbClr val="7052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4160520" y="5760720"/>
            <a:ext cx="3840479" cy="36575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Hybrid = combination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82440"/>
                </a:solidFill>
              </a:defRPr>
            </a:pPr>
            <a:r>
              <a:t>Tricky Example #1 — Who Gets Called?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32688"/>
            <a:ext cx="10789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5D697A"/>
                </a:solidFill>
              </a:defRPr>
            </a:pPr>
            <a:r>
              <a:t>Predict the output before seeing the answer.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81360" y="6473952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D697A"/>
                </a:solidFill>
              </a:defRPr>
            </a:pPr>
            <a:r>
              <a:t>10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417320"/>
            <a:ext cx="6766560" cy="4389120"/>
          </a:xfrm>
          <a:prstGeom prst="roundRect">
            <a:avLst/>
          </a:prstGeom>
          <a:solidFill>
            <a:srgbClr val="1F26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14400" y="1600200"/>
            <a:ext cx="6309360" cy="402335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FFFFFF"/>
                </a:solidFill>
                <a:latin typeface="Consolas"/>
              </a:defRPr>
            </a:pPr>
            <a:r>
              <a:rPr dirty="0"/>
              <a:t>class A {</a:t>
            </a:r>
            <a:br>
              <a:rPr dirty="0"/>
            </a:br>
            <a:r>
              <a:rPr dirty="0"/>
              <a:t>public:</a:t>
            </a:r>
            <a:br>
              <a:rPr dirty="0"/>
            </a:br>
            <a:r>
              <a:rPr dirty="0"/>
              <a:t>    void show() { </a:t>
            </a:r>
            <a:r>
              <a:rPr dirty="0" err="1"/>
              <a:t>cout</a:t>
            </a:r>
            <a:r>
              <a:rPr dirty="0"/>
              <a:t> &lt;&lt; "A"; }</a:t>
            </a:r>
            <a:br>
              <a:rPr dirty="0"/>
            </a:br>
            <a:r>
              <a:rPr dirty="0"/>
              <a:t>};</a:t>
            </a:r>
            <a:br>
              <a:rPr dirty="0"/>
            </a:br>
            <a:r>
              <a:rPr dirty="0"/>
              <a:t>class B : public A {</a:t>
            </a:r>
            <a:br>
              <a:rPr dirty="0"/>
            </a:br>
            <a:r>
              <a:rPr dirty="0"/>
              <a:t>public:</a:t>
            </a:r>
            <a:br>
              <a:rPr dirty="0"/>
            </a:br>
            <a:r>
              <a:rPr dirty="0"/>
              <a:t>    void show() { </a:t>
            </a:r>
            <a:r>
              <a:rPr dirty="0" err="1"/>
              <a:t>cout</a:t>
            </a:r>
            <a:r>
              <a:rPr dirty="0"/>
              <a:t> &lt;&lt; "B"; }</a:t>
            </a:r>
            <a:br>
              <a:rPr dirty="0"/>
            </a:br>
            <a:r>
              <a:rPr dirty="0"/>
              <a:t>};</a:t>
            </a:r>
            <a:br>
              <a:rPr dirty="0"/>
            </a:br>
            <a:br>
              <a:rPr dirty="0"/>
            </a:br>
            <a:r>
              <a:rPr dirty="0"/>
              <a:t>B obj;</a:t>
            </a:r>
            <a:br>
              <a:rPr dirty="0"/>
            </a:br>
            <a:r>
              <a:rPr dirty="0" err="1"/>
              <a:t>obj.show</a:t>
            </a:r>
            <a:r>
              <a:rPr dirty="0"/>
              <a:t>();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955279" y="2194560"/>
            <a:ext cx="2743200" cy="914400"/>
          </a:xfrm>
          <a:prstGeom prst="roundRect">
            <a:avLst/>
          </a:prstGeom>
          <a:solidFill>
            <a:srgbClr val="E88B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138159" y="2331720"/>
            <a:ext cx="23774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Output?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82440"/>
                </a:solidFill>
              </a:defRPr>
            </a:pPr>
            <a:r>
              <a:t>Answer #1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881360" y="6473952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D697A"/>
                </a:solidFill>
              </a:defRPr>
            </a:pPr>
            <a:r>
              <a:t>11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1645920"/>
            <a:ext cx="1828800" cy="1097280"/>
          </a:xfrm>
          <a:prstGeom prst="roundRect">
            <a:avLst/>
          </a:prstGeom>
          <a:solidFill>
            <a:srgbClr val="368C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97280" y="1783080"/>
            <a:ext cx="1463040" cy="82295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B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108960" y="1508760"/>
            <a:ext cx="777240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900">
                <a:solidFill>
                  <a:srgbClr val="232B37"/>
                </a:solidFill>
              </a:defRPr>
            </a:pPr>
            <a:r>
              <a:t>The call is obj.show().</a:t>
            </a:r>
          </a:p>
          <a:p>
            <a:pPr>
              <a:spcAft>
                <a:spcPts val="1200"/>
              </a:spcAft>
              <a:defRPr sz="1900">
                <a:solidFill>
                  <a:srgbClr val="232B37"/>
                </a:solidFill>
              </a:defRPr>
            </a:pPr>
            <a:r>
              <a:t>B defines its own show(), so it hides the inherited A::show().</a:t>
            </a:r>
          </a:p>
          <a:p>
            <a:pPr>
              <a:spcAft>
                <a:spcPts val="1200"/>
              </a:spcAft>
              <a:defRPr sz="1900">
                <a:solidFill>
                  <a:srgbClr val="232B37"/>
                </a:solidFill>
              </a:defRPr>
            </a:pPr>
            <a:r>
              <a:t>No virtual function is involved yet.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82440"/>
                </a:solidFill>
              </a:defRPr>
            </a:pPr>
            <a:r>
              <a:t>3. Method Overriding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32688"/>
            <a:ext cx="10789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5D697A"/>
                </a:solidFill>
              </a:defRPr>
            </a:pPr>
            <a:r>
              <a:t>Derived class supplies a new implementation with the same function signature.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81360" y="6473952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D697A"/>
                </a:solidFill>
              </a:defRPr>
            </a:pPr>
            <a:r>
              <a:t>12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417320"/>
            <a:ext cx="6766560" cy="4480560"/>
          </a:xfrm>
          <a:prstGeom prst="roundRect">
            <a:avLst/>
          </a:prstGeom>
          <a:solidFill>
            <a:srgbClr val="1F26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14400" y="1600200"/>
            <a:ext cx="630936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FFFFFF"/>
                </a:solidFill>
                <a:latin typeface="Consolas"/>
              </a:defRPr>
            </a:pPr>
            <a:r>
              <a:t>class Animal {</a:t>
            </a:r>
            <a:br/>
            <a:r>
              <a:t>public:</a:t>
            </a:r>
            <a:br/>
            <a:r>
              <a:t>    virtual void sound() {</a:t>
            </a:r>
            <a:br/>
            <a:r>
              <a:t>        cout &lt;&lt; "Animal";</a:t>
            </a:r>
            <a:br/>
            <a:r>
              <a:t>    }</a:t>
            </a:r>
            <a:br/>
            <a:r>
              <a:t>};</a:t>
            </a:r>
            <a:br/>
            <a:br/>
            <a:r>
              <a:t>class Dog : public Animal {</a:t>
            </a:r>
            <a:br/>
            <a:r>
              <a:t>public:</a:t>
            </a:r>
            <a:br/>
            <a:r>
              <a:t>    void sound() override {</a:t>
            </a:r>
            <a:br/>
            <a:r>
              <a:t>        cout &lt;&lt; "Dog";</a:t>
            </a:r>
            <a:br/>
            <a:r>
              <a:t>    }</a:t>
            </a:r>
            <a:br/>
            <a:r>
              <a:t>};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26679" y="1920240"/>
            <a:ext cx="3657600" cy="960120"/>
          </a:xfrm>
          <a:prstGeom prst="roundRect">
            <a:avLst/>
          </a:prstGeom>
          <a:solidFill>
            <a:srgbClr val="7052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909559" y="2057400"/>
            <a:ext cx="329184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override = compile-time safety check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82440"/>
                </a:solidFill>
              </a:defRPr>
            </a:pPr>
            <a:r>
              <a:t>Tricky Example #2 — Is It Really Overriding?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881360" y="6473952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D697A"/>
                </a:solidFill>
              </a:defRPr>
            </a:pPr>
            <a:r>
              <a:t>13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417320"/>
            <a:ext cx="6858000" cy="4480560"/>
          </a:xfrm>
          <a:prstGeom prst="roundRect">
            <a:avLst/>
          </a:prstGeom>
          <a:solidFill>
            <a:srgbClr val="1F26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14400" y="1600200"/>
            <a:ext cx="64008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FFFFFF"/>
                </a:solidFill>
                <a:latin typeface="Consolas"/>
              </a:defRPr>
            </a:pPr>
            <a:r>
              <a:t>class Base {</a:t>
            </a:r>
            <a:br/>
            <a:r>
              <a:t>public:</a:t>
            </a:r>
            <a:br/>
            <a:r>
              <a:t>    virtual void show(int x) {</a:t>
            </a:r>
            <a:br/>
            <a:r>
              <a:t>        cout &lt;&lt; "Base";</a:t>
            </a:r>
            <a:br/>
            <a:r>
              <a:t>    }</a:t>
            </a:r>
            <a:br/>
            <a:r>
              <a:t>};</a:t>
            </a:r>
            <a:br/>
            <a:r>
              <a:t>class Derived : public Base {</a:t>
            </a:r>
            <a:br/>
            <a:r>
              <a:t>public:</a:t>
            </a:r>
            <a:br/>
            <a:r>
              <a:t>    void show(double x) {</a:t>
            </a:r>
            <a:br/>
            <a:r>
              <a:t>        cout &lt;&lt; "Derived";</a:t>
            </a:r>
            <a:br/>
            <a:r>
              <a:t>    }</a:t>
            </a:r>
            <a:br/>
            <a:r>
              <a:t>};</a:t>
            </a:r>
            <a:br/>
            <a:br/>
            <a:r>
              <a:t>Derived d;</a:t>
            </a:r>
            <a:br/>
            <a:r>
              <a:t>d.show(10);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046720" y="2286000"/>
            <a:ext cx="2560320" cy="914400"/>
          </a:xfrm>
          <a:prstGeom prst="roundRect">
            <a:avLst/>
          </a:prstGeom>
          <a:solidFill>
            <a:srgbClr val="E88B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229600" y="2423160"/>
            <a:ext cx="21945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Output?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82440"/>
                </a:solidFill>
              </a:defRPr>
            </a:pPr>
            <a:r>
              <a:t>Answer #2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881360" y="6473952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D697A"/>
                </a:solidFill>
              </a:defRPr>
            </a:pPr>
            <a:r>
              <a:t>14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1645920"/>
            <a:ext cx="2560320" cy="1097280"/>
          </a:xfrm>
          <a:prstGeom prst="roundRect">
            <a:avLst/>
          </a:prstGeom>
          <a:solidFill>
            <a:srgbClr val="368C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97280" y="1783080"/>
            <a:ext cx="2194560" cy="82295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Derived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0" y="1508760"/>
            <a:ext cx="71323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232B37"/>
                </a:solidFill>
              </a:defRPr>
            </a:pPr>
            <a:r>
              <a:t>show(int) and show(double) have different signatures.</a:t>
            </a:r>
          </a:p>
          <a:p>
            <a:pPr>
              <a:spcAft>
                <a:spcPts val="1200"/>
              </a:spcAft>
              <a:defRPr sz="1800">
                <a:solidFill>
                  <a:srgbClr val="232B37"/>
                </a:solidFill>
              </a:defRPr>
            </a:pPr>
            <a:r>
              <a:t>So this is NOT overriding; it is function overloading/hiding in the derived scope.</a:t>
            </a:r>
          </a:p>
          <a:p>
            <a:pPr>
              <a:spcAft>
                <a:spcPts val="1200"/>
              </a:spcAft>
              <a:defRPr sz="1800">
                <a:solidFill>
                  <a:srgbClr val="232B37"/>
                </a:solidFill>
              </a:defRPr>
            </a:pPr>
            <a:r>
              <a:t>Using override would have produced a compiler error.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82440"/>
                </a:solidFill>
              </a:defRPr>
            </a:pPr>
            <a:r>
              <a:t>4. The Diamond Problem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32688"/>
            <a:ext cx="10789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5D697A"/>
                </a:solidFill>
              </a:defRPr>
            </a:pPr>
            <a:r>
              <a:t>A classic ambiguity in multiple + multilevel inheritance.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81360" y="6473952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D697A"/>
                </a:solidFill>
              </a:defRPr>
            </a:pPr>
            <a:r>
              <a:t>15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120640" y="914400"/>
            <a:ext cx="1828800" cy="685800"/>
          </a:xfrm>
          <a:prstGeom prst="roundRect">
            <a:avLst/>
          </a:prstGeom>
          <a:solidFill>
            <a:srgbClr val="3465A4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166359" y="987552"/>
            <a:ext cx="1737360" cy="5486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Person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103120" y="2743200"/>
            <a:ext cx="1828800" cy="685800"/>
          </a:xfrm>
          <a:prstGeom prst="roundRect">
            <a:avLst/>
          </a:prstGeom>
          <a:solidFill>
            <a:srgbClr val="368C5E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2148839" y="2816352"/>
            <a:ext cx="1737360" cy="5486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Student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138160" y="2743200"/>
            <a:ext cx="1828800" cy="685800"/>
          </a:xfrm>
          <a:prstGeom prst="roundRect">
            <a:avLst/>
          </a:prstGeom>
          <a:solidFill>
            <a:srgbClr val="368C5E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183880" y="2816352"/>
            <a:ext cx="1737360" cy="5486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Employee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120640" y="4663440"/>
            <a:ext cx="1828800" cy="685800"/>
          </a:xfrm>
          <a:prstGeom prst="roundRect">
            <a:avLst/>
          </a:prstGeom>
          <a:solidFill>
            <a:srgbClr val="E88B2D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166359" y="4736592"/>
            <a:ext cx="1737360" cy="5486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TA</a:t>
            </a:r>
          </a:p>
        </p:txBody>
      </p:sp>
      <p:cxnSp>
        <p:nvCxnSpPr>
          <p:cNvPr id="14" name="Connector 13"/>
          <p:cNvCxnSpPr/>
          <p:nvPr/>
        </p:nvCxnSpPr>
        <p:spPr>
          <a:xfrm flipH="1">
            <a:off x="2926080" y="1600200"/>
            <a:ext cx="2743200" cy="1143000"/>
          </a:xfrm>
          <a:prstGeom prst="line">
            <a:avLst/>
          </a:prstGeom>
          <a:ln w="25400">
            <a:solidFill>
              <a:srgbClr val="5D69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6400800" y="1600200"/>
            <a:ext cx="2011680" cy="1143000"/>
          </a:xfrm>
          <a:prstGeom prst="line">
            <a:avLst/>
          </a:prstGeom>
          <a:ln w="25400">
            <a:solidFill>
              <a:srgbClr val="5D69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3931920" y="3429000"/>
            <a:ext cx="1463040" cy="1234440"/>
          </a:xfrm>
          <a:prstGeom prst="line">
            <a:avLst/>
          </a:prstGeom>
          <a:ln w="25400">
            <a:solidFill>
              <a:srgbClr val="5D69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 flipH="1">
            <a:off x="6675120" y="3429000"/>
            <a:ext cx="1554480" cy="1234440"/>
          </a:xfrm>
          <a:prstGeom prst="line">
            <a:avLst/>
          </a:prstGeom>
          <a:ln w="25400">
            <a:solidFill>
              <a:srgbClr val="5D69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3474720" y="5669280"/>
            <a:ext cx="5303520" cy="640080"/>
          </a:xfrm>
          <a:prstGeom prst="roundRect">
            <a:avLst/>
          </a:prstGeom>
          <a:solidFill>
            <a:srgbClr val="CC4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3657600" y="5806440"/>
            <a:ext cx="4937759" cy="36575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TA has TWO Person subobjects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82440"/>
                </a:solidFill>
              </a:defRPr>
            </a:pPr>
            <a:r>
              <a:t>Virtual Base Class — Fixing the Diamond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881360" y="6473952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D697A"/>
                </a:solidFill>
              </a:defRPr>
            </a:pPr>
            <a:r>
              <a:t>16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417320"/>
            <a:ext cx="7040880" cy="4297680"/>
          </a:xfrm>
          <a:prstGeom prst="roundRect">
            <a:avLst/>
          </a:prstGeom>
          <a:solidFill>
            <a:srgbClr val="1F26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14400" y="1600200"/>
            <a:ext cx="6583680" cy="3931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FFFFFF"/>
                </a:solidFill>
                <a:latin typeface="Consolas"/>
              </a:defRPr>
            </a:pPr>
            <a:r>
              <a:t>class Person { public: int id; };</a:t>
            </a:r>
            <a:br/>
            <a:br/>
            <a:r>
              <a:t>class Student : virtual public Person {};</a:t>
            </a:r>
            <a:br/>
            <a:r>
              <a:t>class Employee : virtual public Person {};</a:t>
            </a:r>
            <a:br/>
            <a:br/>
            <a:r>
              <a:t>class TA : public Student, public Employee {};</a:t>
            </a:r>
            <a:br/>
            <a:br/>
            <a:r>
              <a:t>TA t;</a:t>
            </a:r>
            <a:br/>
            <a:r>
              <a:t>t.id = 10;   // OK: one shared Person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818120" y="1828800"/>
            <a:ext cx="3657600" cy="1097280"/>
          </a:xfrm>
          <a:prstGeom prst="roundRect">
            <a:avLst/>
          </a:prstGeom>
          <a:solidFill>
            <a:srgbClr val="368C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001000" y="1965960"/>
            <a:ext cx="3291840" cy="82295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virtual inheritance → one shared base subobject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82440"/>
                </a:solidFill>
              </a:defRPr>
            </a:pPr>
            <a:r>
              <a:t>Tricky Example #3 — Ambiguous or Not?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881360" y="6473952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D697A"/>
                </a:solidFill>
              </a:defRPr>
            </a:pPr>
            <a:r>
              <a:t>17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417320"/>
            <a:ext cx="6766560" cy="4389120"/>
          </a:xfrm>
          <a:prstGeom prst="roundRect">
            <a:avLst/>
          </a:prstGeom>
          <a:solidFill>
            <a:srgbClr val="1F26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14400" y="1600200"/>
            <a:ext cx="6309360" cy="402335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FFFFFF"/>
                </a:solidFill>
                <a:latin typeface="Consolas"/>
              </a:defRPr>
            </a:pPr>
            <a:r>
              <a:t>class A { public: int x = 5; };</a:t>
            </a:r>
            <a:br/>
            <a:r>
              <a:t>class B : public A {};</a:t>
            </a:r>
            <a:br/>
            <a:r>
              <a:t>class C : public A {};</a:t>
            </a:r>
            <a:br/>
            <a:r>
              <a:t>class D : public B, public C {};</a:t>
            </a:r>
            <a:br/>
            <a:br/>
            <a:r>
              <a:t>D d;</a:t>
            </a:r>
            <a:br/>
            <a:r>
              <a:t>cout &lt;&lt; d.x;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046720" y="2103120"/>
            <a:ext cx="2560320" cy="914400"/>
          </a:xfrm>
          <a:prstGeom prst="roundRect">
            <a:avLst/>
          </a:prstGeom>
          <a:solidFill>
            <a:srgbClr val="E88B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229600" y="2240279"/>
            <a:ext cx="21945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Compile error?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82440"/>
                </a:solidFill>
              </a:defRPr>
            </a:pPr>
            <a:r>
              <a:t>Answer #3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881360" y="6473952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D697A"/>
                </a:solidFill>
              </a:defRPr>
            </a:pPr>
            <a:r>
              <a:t>18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554480"/>
            <a:ext cx="2743200" cy="1097280"/>
          </a:xfrm>
          <a:prstGeom prst="roundRect">
            <a:avLst/>
          </a:prstGeom>
          <a:solidFill>
            <a:srgbClr val="CC4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05840" y="1691639"/>
            <a:ext cx="2377440" cy="82295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AMBIGUOUS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0" y="1463040"/>
            <a:ext cx="731520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232B37"/>
                </a:solidFill>
              </a:defRPr>
            </a:pPr>
            <a:r>
              <a:t>D contains two A parts: one through B and one through C.</a:t>
            </a:r>
          </a:p>
          <a:p>
            <a:pPr>
              <a:spcAft>
                <a:spcPts val="1200"/>
              </a:spcAft>
              <a:defRPr sz="1800">
                <a:solidFill>
                  <a:srgbClr val="232B37"/>
                </a:solidFill>
              </a:defRPr>
            </a:pPr>
            <a:r>
              <a:t>d.x is ambiguous.</a:t>
            </a:r>
          </a:p>
          <a:p>
            <a:pPr>
              <a:spcAft>
                <a:spcPts val="1200"/>
              </a:spcAft>
              <a:defRPr sz="1800">
                <a:solidFill>
                  <a:srgbClr val="232B37"/>
                </a:solidFill>
              </a:defRPr>
            </a:pPr>
            <a:r>
              <a:t>Without virtual inheritance, use d.B::x or d.C::x to choose explicitly.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82440"/>
                </a:solidFill>
              </a:defRPr>
            </a:pPr>
            <a:r>
              <a:t>5. Virtual Function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32688"/>
            <a:ext cx="10789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5D697A"/>
                </a:solidFill>
              </a:defRPr>
            </a:pPr>
            <a:r>
              <a:t>Virtual enables runtime selection when calling through a base pointer/reference.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81360" y="6473952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D697A"/>
                </a:solidFill>
              </a:defRPr>
            </a:pPr>
            <a:r>
              <a:t>19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417320"/>
            <a:ext cx="7132320" cy="4572000"/>
          </a:xfrm>
          <a:prstGeom prst="roundRect">
            <a:avLst/>
          </a:prstGeom>
          <a:solidFill>
            <a:srgbClr val="1F26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14400" y="1600200"/>
            <a:ext cx="6675120" cy="4206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FFFFFF"/>
                </a:solidFill>
                <a:latin typeface="Consolas"/>
              </a:defRPr>
            </a:pPr>
            <a:r>
              <a:t>class Animal {</a:t>
            </a:r>
            <a:br/>
            <a:r>
              <a:t>public:</a:t>
            </a:r>
            <a:br/>
            <a:r>
              <a:t>    virtual void sound() {</a:t>
            </a:r>
            <a:br/>
            <a:r>
              <a:t>        cout &lt;&lt; "Animal";</a:t>
            </a:r>
            <a:br/>
            <a:r>
              <a:t>    }</a:t>
            </a:r>
            <a:br/>
            <a:r>
              <a:t>};</a:t>
            </a:r>
            <a:br/>
            <a:r>
              <a:t>class Dog : public Animal {</a:t>
            </a:r>
            <a:br/>
            <a:r>
              <a:t>public:</a:t>
            </a:r>
            <a:br/>
            <a:r>
              <a:t>    void sound() override {</a:t>
            </a:r>
            <a:br/>
            <a:r>
              <a:t>        cout &lt;&lt; "Dog";</a:t>
            </a:r>
            <a:br/>
            <a:r>
              <a:t>    }</a:t>
            </a:r>
            <a:br/>
            <a:r>
              <a:t>};</a:t>
            </a:r>
            <a:br/>
            <a:br/>
            <a:r>
              <a:t>Animal* p = new Dog;</a:t>
            </a:r>
            <a:br/>
            <a:r>
              <a:t>p-&gt;sound();     // Dog</a:t>
            </a:r>
            <a:br/>
            <a:r>
              <a:t>delete p;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955279" y="1920240"/>
            <a:ext cx="3200400" cy="1097280"/>
          </a:xfrm>
          <a:prstGeom prst="roundRect">
            <a:avLst/>
          </a:prstGeom>
          <a:solidFill>
            <a:srgbClr val="368C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138159" y="2057400"/>
            <a:ext cx="2834640" cy="82295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Base pointer → Derived implementation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82440"/>
                </a:solidFill>
              </a:defRPr>
            </a:pPr>
            <a:r>
              <a:t>Pure Virtual Function &amp; Abstract Class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881360" y="6473952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D697A"/>
                </a:solidFill>
              </a:defRPr>
            </a:pPr>
            <a:r>
              <a:t>20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417320"/>
            <a:ext cx="6949440" cy="4389120"/>
          </a:xfrm>
          <a:prstGeom prst="roundRect">
            <a:avLst/>
          </a:prstGeom>
          <a:solidFill>
            <a:srgbClr val="1F26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14400" y="1600200"/>
            <a:ext cx="6492240" cy="402335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FFFFFF"/>
                </a:solidFill>
                <a:latin typeface="Consolas"/>
              </a:defRPr>
            </a:pPr>
            <a:r>
              <a:t>class Shape {</a:t>
            </a:r>
            <a:br/>
            <a:r>
              <a:t>public:</a:t>
            </a:r>
            <a:br/>
            <a:r>
              <a:t>    virtual double area() = 0;</a:t>
            </a:r>
            <a:br/>
            <a:r>
              <a:t>};</a:t>
            </a:r>
            <a:br/>
            <a:br/>
            <a:r>
              <a:t>class Circle : public Shape {</a:t>
            </a:r>
            <a:br/>
            <a:r>
              <a:t>public:</a:t>
            </a:r>
            <a:br/>
            <a:r>
              <a:t>    double area() override {</a:t>
            </a:r>
            <a:br/>
            <a:r>
              <a:t>        return 3.14 * 2 * 2;</a:t>
            </a:r>
            <a:br/>
            <a:r>
              <a:t>    }</a:t>
            </a:r>
            <a:br/>
            <a:r>
              <a:t>};</a:t>
            </a:r>
            <a:br/>
            <a:br/>
            <a:r>
              <a:t>// Shape s;   // ERROR</a:t>
            </a:r>
            <a:br/>
            <a:r>
              <a:t>Circle c;     // OK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26679" y="1828800"/>
            <a:ext cx="3749039" cy="1188720"/>
          </a:xfrm>
          <a:prstGeom prst="roundRect">
            <a:avLst/>
          </a:prstGeom>
          <a:solidFill>
            <a:srgbClr val="7052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909559" y="1965960"/>
            <a:ext cx="3383279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= 0  → must be implemented by concrete derived class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82440"/>
                </a:solidFill>
              </a:defRPr>
            </a:pPr>
            <a:r>
              <a:t>6. Implementing Dynamic Polymorphism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32688"/>
            <a:ext cx="10789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5D697A"/>
                </a:solidFill>
              </a:defRPr>
            </a:pPr>
            <a:r>
              <a:t>Typical pattern: base interface + virtual function + derived objects + base pointer/reference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81360" y="6473952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D697A"/>
                </a:solidFill>
              </a:defRPr>
            </a:pPr>
            <a:r>
              <a:t>21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2743200"/>
            <a:ext cx="1645920" cy="731520"/>
          </a:xfrm>
          <a:prstGeom prst="roundRect">
            <a:avLst/>
          </a:prstGeom>
          <a:solidFill>
            <a:srgbClr val="3465A4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60120" y="2816352"/>
            <a:ext cx="1554480" cy="5943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Base*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657600" y="1645920"/>
            <a:ext cx="1554480" cy="731520"/>
          </a:xfrm>
          <a:prstGeom prst="roundRect">
            <a:avLst/>
          </a:prstGeom>
          <a:solidFill>
            <a:srgbClr val="368C5E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703320" y="1719072"/>
            <a:ext cx="1463039" cy="5943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Dog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657600" y="3017520"/>
            <a:ext cx="1554480" cy="731520"/>
          </a:xfrm>
          <a:prstGeom prst="roundRect">
            <a:avLst/>
          </a:prstGeom>
          <a:solidFill>
            <a:srgbClr val="E88B2D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703320" y="3090672"/>
            <a:ext cx="1463039" cy="5943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Cat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657600" y="4389120"/>
            <a:ext cx="1554480" cy="731520"/>
          </a:xfrm>
          <a:prstGeom prst="roundRect">
            <a:avLst/>
          </a:prstGeom>
          <a:solidFill>
            <a:srgbClr val="7052A8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703320" y="4462272"/>
            <a:ext cx="1463039" cy="5943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Cow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766560" y="2743200"/>
            <a:ext cx="1828800" cy="731520"/>
          </a:xfrm>
          <a:prstGeom prst="roundRect">
            <a:avLst/>
          </a:prstGeom>
          <a:solidFill>
            <a:srgbClr val="2A9DBD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812280" y="2816352"/>
            <a:ext cx="1737360" cy="5943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sound()</a:t>
            </a:r>
          </a:p>
        </p:txBody>
      </p:sp>
      <p:cxnSp>
        <p:nvCxnSpPr>
          <p:cNvPr id="16" name="Connector 15"/>
          <p:cNvCxnSpPr/>
          <p:nvPr/>
        </p:nvCxnSpPr>
        <p:spPr>
          <a:xfrm flipV="1">
            <a:off x="2560320" y="2011680"/>
            <a:ext cx="1097280" cy="1097280"/>
          </a:xfrm>
          <a:prstGeom prst="line">
            <a:avLst/>
          </a:prstGeom>
          <a:ln w="25400">
            <a:solidFill>
              <a:srgbClr val="5D69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2560320" y="3108960"/>
            <a:ext cx="1097280" cy="274320"/>
          </a:xfrm>
          <a:prstGeom prst="line">
            <a:avLst/>
          </a:prstGeom>
          <a:ln w="25400">
            <a:solidFill>
              <a:srgbClr val="5D69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2560320" y="3108960"/>
            <a:ext cx="1097280" cy="1645920"/>
          </a:xfrm>
          <a:prstGeom prst="line">
            <a:avLst/>
          </a:prstGeom>
          <a:ln w="25400">
            <a:solidFill>
              <a:srgbClr val="5D69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5212080" y="2011680"/>
            <a:ext cx="1554480" cy="1097280"/>
          </a:xfrm>
          <a:prstGeom prst="line">
            <a:avLst/>
          </a:prstGeom>
          <a:ln w="25400">
            <a:solidFill>
              <a:srgbClr val="5D69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 flipV="1">
            <a:off x="5212080" y="3108960"/>
            <a:ext cx="1554480" cy="274320"/>
          </a:xfrm>
          <a:prstGeom prst="line">
            <a:avLst/>
          </a:prstGeom>
          <a:ln w="25400">
            <a:solidFill>
              <a:srgbClr val="5D69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 flipV="1">
            <a:off x="5212080" y="3108960"/>
            <a:ext cx="1554480" cy="1645920"/>
          </a:xfrm>
          <a:prstGeom prst="line">
            <a:avLst/>
          </a:prstGeom>
          <a:ln w="25400">
            <a:solidFill>
              <a:srgbClr val="5D69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9052560" y="2560320"/>
            <a:ext cx="2286000" cy="1005840"/>
          </a:xfrm>
          <a:prstGeom prst="roundRect">
            <a:avLst/>
          </a:prstGeom>
          <a:solidFill>
            <a:srgbClr val="368C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9235440" y="2697479"/>
            <a:ext cx="19202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One interface • many behaviors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82440"/>
                </a:solidFill>
              </a:defRPr>
            </a:pPr>
            <a:r>
              <a:t>Quick Comparison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881360" y="6473952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D697A"/>
                </a:solidFill>
              </a:defRPr>
            </a:pPr>
            <a:r>
              <a:t>28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325880"/>
            <a:ext cx="2560320" cy="502920"/>
          </a:xfrm>
          <a:prstGeom prst="roundRect">
            <a:avLst/>
          </a:prstGeom>
          <a:solidFill>
            <a:srgbClr val="3465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68680" y="1408176"/>
            <a:ext cx="2286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FFFFFF"/>
                </a:solidFill>
              </a:defRPr>
            </a:pPr>
            <a:r>
              <a:t>Inheritance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566160" y="1389888"/>
            <a:ext cx="768096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232B37"/>
                </a:solidFill>
              </a:defRPr>
            </a:pPr>
            <a:r>
              <a:t>Code reuse / IS-A relationship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984248"/>
            <a:ext cx="2560320" cy="502920"/>
          </a:xfrm>
          <a:prstGeom prst="roundRect">
            <a:avLst/>
          </a:prstGeom>
          <a:solidFill>
            <a:srgbClr val="3465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68680" y="2066543"/>
            <a:ext cx="2286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FFFFFF"/>
                </a:solidFill>
              </a:defRPr>
            </a:pPr>
            <a:r>
              <a:t>Overriding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566160" y="2048255"/>
            <a:ext cx="768096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232B37"/>
                </a:solidFill>
              </a:defRPr>
            </a:pPr>
            <a:r>
              <a:t>Derived replaces a virtual function implementation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2642615"/>
            <a:ext cx="2560320" cy="502920"/>
          </a:xfrm>
          <a:prstGeom prst="roundRect">
            <a:avLst/>
          </a:prstGeom>
          <a:solidFill>
            <a:srgbClr val="3465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68680" y="2724911"/>
            <a:ext cx="2286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FFFFFF"/>
                </a:solidFill>
              </a:defRPr>
            </a:pPr>
            <a:r>
              <a:t>Virtual function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66160" y="2706623"/>
            <a:ext cx="768096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232B37"/>
                </a:solidFill>
              </a:defRPr>
            </a:pPr>
            <a:r>
              <a:t>Enables runtime dispatch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3300984"/>
            <a:ext cx="2560320" cy="502920"/>
          </a:xfrm>
          <a:prstGeom prst="roundRect">
            <a:avLst/>
          </a:prstGeom>
          <a:solidFill>
            <a:srgbClr val="3465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68680" y="3383280"/>
            <a:ext cx="2286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FFFFFF"/>
                </a:solidFill>
              </a:defRPr>
            </a:pPr>
            <a:r>
              <a:t>Pure virtual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66160" y="3364992"/>
            <a:ext cx="768096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232B37"/>
                </a:solidFill>
              </a:defRPr>
            </a:pPr>
            <a:r>
              <a:t>Defines an interface requirement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" y="3959352"/>
            <a:ext cx="2560320" cy="502920"/>
          </a:xfrm>
          <a:prstGeom prst="roundRect">
            <a:avLst/>
          </a:prstGeom>
          <a:solidFill>
            <a:srgbClr val="3465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68680" y="4041648"/>
            <a:ext cx="2286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FFFFFF"/>
                </a:solidFill>
              </a:defRPr>
            </a:pPr>
            <a:r>
              <a:t>Abstract class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566160" y="4023360"/>
            <a:ext cx="768096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232B37"/>
                </a:solidFill>
              </a:defRPr>
            </a:pPr>
            <a:r>
              <a:t>Cannot be instantiated directly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31520" y="4617720"/>
            <a:ext cx="2560320" cy="502920"/>
          </a:xfrm>
          <a:prstGeom prst="roundRect">
            <a:avLst/>
          </a:prstGeom>
          <a:solidFill>
            <a:srgbClr val="3465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868680" y="4700016"/>
            <a:ext cx="2286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FFFFFF"/>
                </a:solidFill>
              </a:defRPr>
            </a:pPr>
            <a:r>
              <a:t>Virtual base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566160" y="4681728"/>
            <a:ext cx="768096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232B37"/>
                </a:solidFill>
              </a:defRPr>
            </a:pPr>
            <a:r>
              <a:t>Solves duplicated common base in diamond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31520" y="5276088"/>
            <a:ext cx="2560320" cy="502920"/>
          </a:xfrm>
          <a:prstGeom prst="roundRect">
            <a:avLst/>
          </a:prstGeom>
          <a:solidFill>
            <a:srgbClr val="3465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868680" y="5358384"/>
            <a:ext cx="2286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FFFFFF"/>
                </a:solidFill>
              </a:defRPr>
            </a:pPr>
            <a:r>
              <a:t>Dynamic polymorphism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566160" y="5340096"/>
            <a:ext cx="768096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232B37"/>
                </a:solidFill>
              </a:defRPr>
            </a:pPr>
            <a:r>
              <a:t>One base interface, different runtime behavior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520</TotalTime>
  <Words>1026</Words>
  <Application>Microsoft Office PowerPoint</Application>
  <PresentationFormat>Widescreen</PresentationFormat>
  <Paragraphs>136</Paragraphs>
  <Slides>21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4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Pinkeshkumar Patel</cp:lastModifiedBy>
  <cp:revision>4</cp:revision>
  <dcterms:created xsi:type="dcterms:W3CDTF">2013-01-27T09:14:16Z</dcterms:created>
  <dcterms:modified xsi:type="dcterms:W3CDTF">2026-09-07T14:54:40Z</dcterms:modified>
  <cp:category/>
</cp:coreProperties>
</file>