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Manipulating Strings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8346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Creating • Manipulating • Comparing • Relational Operations • Characteristics • Swapping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C++ String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Create and initialize std::string objects.</a:t>
            </a:r>
          </a:p>
          <a:p>
            <a:pPr>
              <a:spcAft>
                <a:spcPts val="900"/>
              </a:spcAft>
              <a:defRPr sz="2000"/>
            </a:pPr>
            <a:r>
              <a:t>Read strings safely, including strings containing spaces.</a:t>
            </a:r>
          </a:p>
          <a:p>
            <a:pPr>
              <a:spcAft>
                <a:spcPts val="900"/>
              </a:spcAft>
              <a:defRPr sz="2000"/>
            </a:pPr>
            <a:r>
              <a:t>Manipulate strings using common member functions and operators.</a:t>
            </a:r>
          </a:p>
          <a:p>
            <a:pPr>
              <a:spcAft>
                <a:spcPts val="900"/>
              </a:spcAft>
              <a:defRPr sz="2000"/>
            </a:pPr>
            <a:r>
              <a:t>Perform relational operations and understand lexicographical ordering.</a:t>
            </a:r>
          </a:p>
          <a:p>
            <a:pPr>
              <a:spcAft>
                <a:spcPts val="900"/>
              </a:spcAft>
              <a:defRPr sz="2000"/>
            </a:pPr>
            <a:r>
              <a:t>Compare strings using ==, !=, compare(), and related operations.</a:t>
            </a:r>
          </a:p>
          <a:p>
            <a:pPr>
              <a:spcAft>
                <a:spcPts val="900"/>
              </a:spcAft>
              <a:defRPr sz="2000"/>
            </a:pPr>
            <a:r>
              <a:t>Understand string characteristics such as length, size, capacity and emptiness.</a:t>
            </a:r>
          </a:p>
          <a:p>
            <a:pPr>
              <a:spcAft>
                <a:spcPts val="900"/>
              </a:spcAft>
              <a:defRPr sz="2000"/>
            </a:pPr>
            <a:r>
              <a:t>Swap two strings efficiently.</a:t>
            </a:r>
          </a:p>
          <a:p>
            <a:pPr>
              <a:spcAft>
                <a:spcPts val="900"/>
              </a:spcAft>
              <a:defRPr sz="2000"/>
            </a:pPr>
            <a:r>
              <a:t>Apply string concepts to practical programming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Creating String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Include the &lt;string&gt; header.</a:t>
            </a:r>
          </a:p>
          <a:p>
            <a:pPr>
              <a:spcAft>
                <a:spcPts val="900"/>
              </a:spcAft>
              <a:defRPr sz="2000"/>
            </a:pPr>
            <a:r>
              <a:t>Use std::string (or using namespace std).</a:t>
            </a:r>
          </a:p>
          <a:p>
            <a:pPr>
              <a:spcAft>
                <a:spcPts val="900"/>
              </a:spcAft>
              <a:defRPr sz="2000"/>
            </a:pPr>
            <a:r>
              <a:t>A string object stores a sequence of characters.</a:t>
            </a:r>
          </a:p>
          <a:p>
            <a:pPr>
              <a:spcAft>
                <a:spcPts val="900"/>
              </a:spcAft>
              <a:defRPr sz="2000"/>
            </a:pPr>
            <a:r>
              <a:t>Initialization can be done with a literal, another string, or a repeated character.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latin typeface="Consolas"/>
              </a:defRPr>
            </a:pPr>
            <a:r>
              <a:t>#include &lt;iostream&gt;</a:t>
            </a:r>
            <a:br/>
            <a:r>
              <a:t>#include &lt;string&gt;</a:t>
            </a:r>
            <a:br/>
            <a:r>
              <a:t>using namespace std;</a:t>
            </a:r>
            <a:br/>
            <a:br/>
            <a:r>
              <a:t>int main()</a:t>
            </a:r>
            <a:br/>
            <a:r>
              <a:t>{</a:t>
            </a:r>
            <a:br/>
            <a:r>
              <a:t>    string s1 = "Hello";</a:t>
            </a:r>
            <a:br/>
            <a:r>
              <a:t>    string s2("World");</a:t>
            </a:r>
            <a:br/>
            <a:r>
              <a:t>    string s3(5, '*');</a:t>
            </a:r>
            <a:br/>
            <a:r>
              <a:t>    string s4;          // empty</a:t>
            </a:r>
            <a:br/>
            <a:br/>
            <a:r>
              <a:t>    cout &lt;&lt; s1 &lt;&lt; endl;</a:t>
            </a:r>
            <a:br/>
            <a:r>
              <a:t>    cout &lt;&lt; s2 &lt;&lt; endl;</a:t>
            </a:r>
            <a:br/>
            <a:r>
              <a:t>    cout &lt;&lt; s3 &lt;&lt; endl;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Reading Strings: </a:t>
            </a:r>
            <a:r>
              <a:rPr dirty="0" err="1"/>
              <a:t>cin</a:t>
            </a:r>
            <a:r>
              <a:rPr dirty="0"/>
              <a:t> vs </a:t>
            </a:r>
            <a:r>
              <a:rPr dirty="0" err="1"/>
              <a:t>getline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dirty="0" err="1"/>
              <a:t>cin</a:t>
            </a:r>
            <a:r>
              <a:rPr dirty="0"/>
              <a:t> &gt;&gt; name reads only up to whitespace.</a:t>
            </a:r>
          </a:p>
          <a:p>
            <a:pPr>
              <a:spcAft>
                <a:spcPts val="900"/>
              </a:spcAft>
              <a:defRPr sz="2000"/>
            </a:pPr>
            <a:r>
              <a:rPr dirty="0" err="1"/>
              <a:t>getline</a:t>
            </a:r>
            <a:r>
              <a:rPr dirty="0"/>
              <a:t>(</a:t>
            </a:r>
            <a:r>
              <a:rPr dirty="0" err="1"/>
              <a:t>cin</a:t>
            </a:r>
            <a:r>
              <a:rPr dirty="0"/>
              <a:t>, name) reads the complete line.</a:t>
            </a:r>
          </a:p>
          <a:p>
            <a:pPr>
              <a:spcAft>
                <a:spcPts val="900"/>
              </a:spcAft>
              <a:defRPr sz="2000"/>
            </a:pPr>
            <a:r>
              <a:rPr dirty="0"/>
              <a:t>After numeric input, </a:t>
            </a:r>
            <a:r>
              <a:rPr dirty="0" err="1"/>
              <a:t>getline</a:t>
            </a:r>
            <a:r>
              <a:rPr dirty="0"/>
              <a:t> may immediately read the leftover newline.</a:t>
            </a:r>
          </a:p>
          <a:p>
            <a:pPr>
              <a:spcAft>
                <a:spcPts val="900"/>
              </a:spcAft>
              <a:defRPr sz="2000"/>
            </a:pPr>
            <a:r>
              <a:rPr dirty="0"/>
              <a:t>Use </a:t>
            </a:r>
            <a:r>
              <a:rPr dirty="0" err="1"/>
              <a:t>cin.ignore</a:t>
            </a:r>
            <a:r>
              <a:rPr dirty="0"/>
              <a:t>(...) before </a:t>
            </a:r>
            <a:r>
              <a:rPr dirty="0" err="1"/>
              <a:t>getline</a:t>
            </a:r>
            <a:r>
              <a:rPr dirty="0"/>
              <a:t> when necessary.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name, fullName;</a:t>
            </a:r>
            <a:br/>
            <a:br/>
            <a:r>
              <a:t>cin &gt;&gt; name;</a:t>
            </a:r>
            <a:br/>
            <a:r>
              <a:t>// Input: Pinkesh Patel</a:t>
            </a:r>
            <a:br/>
            <a:r>
              <a:t>// name = "Pinkesh"</a:t>
            </a:r>
            <a:br/>
            <a:br/>
            <a:r>
              <a:t>cin.ignore();</a:t>
            </a:r>
            <a:br/>
            <a:r>
              <a:t>getline(cin, fullName);</a:t>
            </a:r>
            <a:br/>
            <a:r>
              <a:t>// fullName = "Pinkesh Patel"</a:t>
            </a:r>
            <a:br/>
            <a:br/>
            <a:r>
              <a:t>// Safer after arbitrary input:</a:t>
            </a:r>
            <a:br/>
            <a:r>
              <a:t>cin.ignore(numeric_limits&lt;streamsize&gt;::max(), '\n');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34DD36-2D39-497A-889F-A356E128F0CF}"/>
              </a:ext>
            </a:extLst>
          </p:cNvPr>
          <p:cNvSpPr txBox="1"/>
          <p:nvPr/>
        </p:nvSpPr>
        <p:spPr>
          <a:xfrm>
            <a:off x="502920" y="274320"/>
            <a:ext cx="25555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/>
              <a:t>Inbuild function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0C72C-6537-0BC5-4B6E-751DC945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221" y="1052173"/>
            <a:ext cx="8435557" cy="56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5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Concatenation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The + operator creates a new string.</a:t>
            </a:r>
          </a:p>
          <a:p>
            <a:pPr>
              <a:spcAft>
                <a:spcPts val="900"/>
              </a:spcAft>
              <a:defRPr sz="2000"/>
            </a:pPr>
            <a:r>
              <a:t>+= appends to the existing string.</a:t>
            </a:r>
          </a:p>
          <a:p>
            <a:pPr>
              <a:spcAft>
                <a:spcPts val="900"/>
              </a:spcAft>
              <a:defRPr sz="2000"/>
            </a:pPr>
            <a:r>
              <a:t>At least one operand should be a string when combining literals safely.</a:t>
            </a:r>
          </a:p>
          <a:p>
            <a:pPr>
              <a:spcAft>
                <a:spcPts val="900"/>
              </a:spcAft>
              <a:defRPr sz="2000"/>
            </a:pPr>
            <a:r>
              <a:t>Character + string can be surprising because char arithmetic can occur.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first = "C++";</a:t>
            </a:r>
            <a:br/>
            <a:r>
              <a:t>string second = "Programming";</a:t>
            </a:r>
            <a:br/>
            <a:br/>
            <a:r>
              <a:t>string result = first + " " + second;</a:t>
            </a:r>
            <a:br/>
            <a:r>
              <a:t>// C++ Programming</a:t>
            </a:r>
            <a:br/>
            <a:br/>
            <a:r>
              <a:t>result += " Language";</a:t>
            </a:r>
            <a:br/>
            <a:r>
              <a:t>// C++ Programming Language</a:t>
            </a:r>
            <a:br/>
            <a:br/>
            <a:r>
              <a:t>// Tricky:</a:t>
            </a:r>
            <a:br/>
            <a:r>
              <a:t>cout &lt;&lt; 'A' + string("BC");</a:t>
            </a:r>
            <a:br/>
            <a:r>
              <a:t>// ABC</a:t>
            </a:r>
            <a:br/>
            <a:br/>
            <a:r>
              <a:t>// But:</a:t>
            </a:r>
            <a:br/>
            <a:r>
              <a:t>cout &lt;&lt; 'A' + 'B';   // 131 (ASCII values)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Character Access: [] vs at()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Indexing starts at 0.</a:t>
            </a:r>
          </a:p>
          <a:p>
            <a:pPr>
              <a:spcAft>
                <a:spcPts val="900"/>
              </a:spcAft>
              <a:defRPr sz="2000"/>
            </a:pPr>
            <a:r>
              <a:t>operator[] provides direct access.</a:t>
            </a:r>
          </a:p>
          <a:p>
            <a:pPr>
              <a:spcAft>
                <a:spcPts val="900"/>
              </a:spcAft>
              <a:defRPr sz="2000"/>
            </a:pPr>
            <a:r>
              <a:t>at() performs bounds checking and can throw std::out_of_range.</a:t>
            </a:r>
          </a:p>
          <a:p>
            <a:pPr>
              <a:spcAft>
                <a:spcPts val="900"/>
              </a:spcAft>
              <a:defRPr sz="2000"/>
            </a:pPr>
            <a:r>
              <a:t>Use size() or length() to validate indexes.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latin typeface="Consolas"/>
              </a:defRPr>
            </a:pPr>
            <a:r>
              <a:t>string s = "Hello";</a:t>
            </a:r>
            <a:br/>
            <a:br/>
            <a:r>
              <a:t>cout &lt;&lt; s[0];       // H</a:t>
            </a:r>
            <a:br/>
            <a:r>
              <a:t>cout &lt;&lt; s[4];       // o</a:t>
            </a:r>
            <a:br/>
            <a:br/>
            <a:r>
              <a:t>cout &lt;&lt; s.at(1);    // e</a:t>
            </a:r>
            <a:br/>
            <a:br/>
            <a:r>
              <a:t>// s[10] -&gt; undefined behavior</a:t>
            </a:r>
            <a:br/>
            <a:r>
              <a:t>// s.at(10) -&gt; exception</a:t>
            </a:r>
            <a:br/>
            <a:br/>
            <a:r>
              <a:t>for (size_t i = 0; i &lt; s.size(); ++i)</a:t>
            </a:r>
            <a:br/>
            <a:r>
              <a:t>    cout &lt;&lt; s[i];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insert(), erase(), replace()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insert(pos, text) inserts before the character at pos.</a:t>
            </a:r>
          </a:p>
          <a:p>
            <a:pPr>
              <a:spcAft>
                <a:spcPts val="900"/>
              </a:spcAft>
              <a:defRPr sz="2000"/>
            </a:pPr>
            <a:r>
              <a:t>erase(pos, count) removes count characters.</a:t>
            </a:r>
          </a:p>
          <a:p>
            <a:pPr>
              <a:spcAft>
                <a:spcPts val="900"/>
              </a:spcAft>
              <a:defRPr sz="2000"/>
            </a:pPr>
            <a:r>
              <a:t>replace(pos, count, text) replaces a portion.</a:t>
            </a:r>
          </a:p>
          <a:p>
            <a:pPr>
              <a:spcAft>
                <a:spcPts val="900"/>
              </a:spcAft>
              <a:defRPr sz="2000"/>
            </a:pPr>
            <a:r>
              <a:t>Positions are zero-based.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latin typeface="Consolas"/>
              </a:defRPr>
            </a:pPr>
            <a:r>
              <a:t>string s = "I like C++";</a:t>
            </a:r>
            <a:br/>
            <a:br/>
            <a:r>
              <a:t>// Insert</a:t>
            </a:r>
            <a:br/>
            <a:r>
              <a:t>s.insert(7, "modern ");</a:t>
            </a:r>
            <a:br/>
            <a:r>
              <a:t>// I like modern C++</a:t>
            </a:r>
            <a:br/>
            <a:br/>
            <a:r>
              <a:t>// Erase</a:t>
            </a:r>
            <a:br/>
            <a:r>
              <a:t>s.erase(7, 7);</a:t>
            </a:r>
            <a:br/>
            <a:r>
              <a:t>// I like C++</a:t>
            </a:r>
            <a:br/>
            <a:br/>
            <a:r>
              <a:t>// Replace</a:t>
            </a:r>
            <a:br/>
            <a:r>
              <a:t>s.replace(7, 3, "Python");</a:t>
            </a:r>
            <a:br/>
            <a:r>
              <a:t>// I like Python</a:t>
            </a:r>
            <a:br/>
            <a:br/>
            <a:r>
              <a:t>cout &lt;&lt; 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substr(): Extracting Part of a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substr(start, count) returns a new string.</a:t>
            </a:r>
          </a:p>
          <a:p>
            <a:pPr>
              <a:spcAft>
                <a:spcPts val="900"/>
              </a:spcAft>
              <a:defRPr sz="2000"/>
            </a:pPr>
            <a:r>
              <a:t>If count is omitted, extraction continues to the end.</a:t>
            </a:r>
          </a:p>
          <a:p>
            <a:pPr>
              <a:spcAft>
                <a:spcPts val="900"/>
              </a:spcAft>
              <a:defRPr sz="2000"/>
            </a:pPr>
            <a:r>
              <a:t>Useful for names, IDs, file extensions, dates and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latin typeface="Consolas"/>
              </a:defRPr>
            </a:pPr>
            <a:r>
              <a:t>string email = "student@example.com";</a:t>
            </a:r>
            <a:br/>
            <a:br/>
            <a:r>
              <a:t>string user = email.substr(0, 7);</a:t>
            </a:r>
            <a:br/>
            <a:r>
              <a:t>string domain = email.substr(8);</a:t>
            </a:r>
            <a:br/>
            <a:br/>
            <a:r>
              <a:t>cout &lt;&lt; user &lt;&lt; endl;    // student</a:t>
            </a:r>
            <a:br/>
            <a:r>
              <a:t>cout &lt;&lt; domain &lt;&lt; endl;  // example.com</a:t>
            </a:r>
            <a:br/>
            <a:br/>
            <a:r>
              <a:t>string date = "2026-09-24";</a:t>
            </a:r>
            <a:br/>
            <a:r>
              <a:t>cout &lt;&lt; date.substr(0, 4); //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find(): Searching Inside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find(text) returns the first matching position.</a:t>
            </a:r>
          </a:p>
          <a:p>
            <a:pPr>
              <a:spcAft>
                <a:spcPts val="900"/>
              </a:spcAft>
              <a:defRPr sz="2000"/>
            </a:pPr>
            <a:r>
              <a:t>If not found, it returns string::npos.</a:t>
            </a:r>
          </a:p>
          <a:p>
            <a:pPr>
              <a:spcAft>
                <a:spcPts val="900"/>
              </a:spcAft>
              <a:defRPr sz="2000"/>
            </a:pPr>
            <a:r>
              <a:t>Do not compare the result to -1 blindly; use string::npos.</a:t>
            </a:r>
          </a:p>
          <a:p>
            <a:pPr>
              <a:spcAft>
                <a:spcPts val="900"/>
              </a:spcAft>
              <a:defRPr sz="2000"/>
            </a:pPr>
            <a:r>
              <a:t>find(text, start) can search from a specified 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s = "C++ is powerful and C++ is fast";</a:t>
            </a:r>
            <a:br/>
            <a:br/>
            <a:r>
              <a:t>size_t pos = s.find("C++");</a:t>
            </a:r>
            <a:br/>
            <a:br/>
            <a:r>
              <a:t>if (pos != string::npos)</a:t>
            </a:r>
            <a:br/>
            <a:r>
              <a:t>    cout &lt;&lt; "Found at " &lt;&lt; pos &lt;&lt; endl;</a:t>
            </a:r>
            <a:br/>
            <a:br/>
            <a:r>
              <a:t>// Find next occurrence</a:t>
            </a:r>
            <a:br/>
            <a:r>
              <a:t>pos = s.find("C++", pos + 1);</a:t>
            </a:r>
            <a:br/>
            <a:br/>
            <a:r>
              <a:t>if (pos != string::npos)</a:t>
            </a:r>
            <a:br/>
            <a:r>
              <a:t>    cout &lt;&lt; "Second at " &lt;&lt; pos &lt;&lt; endl;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Relational Operations on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std::string supports ==, !=, &lt;, &gt;, &lt;= and &gt;=.</a:t>
            </a:r>
          </a:p>
          <a:p>
            <a:pPr>
              <a:spcAft>
                <a:spcPts val="900"/>
              </a:spcAft>
              <a:defRPr sz="2000"/>
            </a:pPr>
            <a:r>
              <a:t>Comparison is lexicographical (dictionary-like), based on character values.</a:t>
            </a:r>
          </a:p>
          <a:p>
            <a:pPr>
              <a:spcAft>
                <a:spcPts val="900"/>
              </a:spcAft>
              <a:defRPr sz="2000"/>
            </a:pPr>
            <a:r>
              <a:t>The comparison is case-sensitive.</a:t>
            </a:r>
          </a:p>
          <a:p>
            <a:pPr>
              <a:spcAft>
                <a:spcPts val="900"/>
              </a:spcAft>
              <a:defRPr sz="2000"/>
            </a:pPr>
            <a:r>
              <a:t>"Apple" and "apple" are different strings.</a:t>
            </a:r>
          </a:p>
          <a:p>
            <a:pPr>
              <a:spcAft>
                <a:spcPts val="900"/>
              </a:spcAft>
              <a:defRPr sz="2000"/>
            </a:pPr>
            <a:r>
              <a:t>Relational operators are useful for sorting and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a = "Apple";</a:t>
            </a:r>
            <a:br/>
            <a:r>
              <a:t>string b = "Banana";</a:t>
            </a:r>
            <a:br/>
            <a:br/>
            <a:r>
              <a:t>cout &lt;&lt; (a &lt; b);     // 1</a:t>
            </a:r>
            <a:br/>
            <a:r>
              <a:t>cout &lt;&lt; (a == b);    // 0</a:t>
            </a:r>
            <a:br/>
            <a:r>
              <a:t>cout &lt;&lt; (a != b);    // 1</a:t>
            </a:r>
            <a:br/>
            <a:br/>
            <a:r>
              <a:t>cout &lt;&lt; ("Zoo" &lt; "apple");</a:t>
            </a:r>
            <a:br/>
            <a:r>
              <a:t>// 1 in typical ASCII ordering</a:t>
            </a:r>
            <a:br/>
            <a:r>
              <a:t>// because 'Z' has a smaller value than 'a'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Comparing Strings with compare()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compare() returns 0 when the compared strings are equal.</a:t>
            </a:r>
          </a:p>
          <a:p>
            <a:pPr>
              <a:spcAft>
                <a:spcPts val="900"/>
              </a:spcAft>
              <a:defRPr sz="2000"/>
            </a:pPr>
            <a:r>
              <a:t>A negative value means the left side is lexicographically smaller.</a:t>
            </a:r>
          </a:p>
          <a:p>
            <a:pPr>
              <a:spcAft>
                <a:spcPts val="900"/>
              </a:spcAft>
              <a:defRPr sz="2000"/>
            </a:pPr>
            <a:r>
              <a:t>A positive value means the left side is lexicographically greater.</a:t>
            </a:r>
          </a:p>
          <a:p>
            <a:pPr>
              <a:spcAft>
                <a:spcPts val="900"/>
              </a:spcAft>
              <a:defRPr sz="2000"/>
            </a:pPr>
            <a:r>
              <a:t>Do not depend on the exact negative/positive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a = "apple";</a:t>
            </a:r>
            <a:br/>
            <a:r>
              <a:t>string b = "banana";</a:t>
            </a:r>
            <a:br/>
            <a:br/>
            <a:r>
              <a:t>int r = a.compare(b);</a:t>
            </a:r>
            <a:br/>
            <a:br/>
            <a:r>
              <a:t>if (r == 0)</a:t>
            </a:r>
            <a:br/>
            <a:r>
              <a:t>    cout &lt;&lt; "Equal";</a:t>
            </a:r>
            <a:br/>
            <a:r>
              <a:t>else if (r &lt; 0)</a:t>
            </a:r>
            <a:br/>
            <a:r>
              <a:t>    cout &lt;&lt; "a comes before b";</a:t>
            </a:r>
            <a:br/>
            <a:r>
              <a:t>else</a:t>
            </a:r>
            <a:br/>
            <a:r>
              <a:t>    cout &lt;&lt; "a comes after b";</a:t>
            </a:r>
            <a:br/>
            <a:br/>
            <a:r>
              <a:t>// Compare part of a string:</a:t>
            </a:r>
            <a:br/>
            <a:r>
              <a:t>string s = "HelloWorld";</a:t>
            </a:r>
            <a:br/>
            <a:r>
              <a:t>cout &lt;&lt; s.compare(5, 5, "World"); //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Case Sensitivity: A Common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String comparison does not automatically ignore case.</a:t>
            </a:r>
          </a:p>
          <a:p>
            <a:pPr>
              <a:spcAft>
                <a:spcPts val="900"/>
              </a:spcAft>
              <a:defRPr sz="2000"/>
            </a:pPr>
            <a:r>
              <a:t>"Admin" != "admin".</a:t>
            </a:r>
          </a:p>
          <a:p>
            <a:pPr>
              <a:spcAft>
                <a:spcPts val="900"/>
              </a:spcAft>
              <a:defRPr sz="2000"/>
            </a:pPr>
            <a:r>
              <a:t>For case-insensitive comparison, normalize both strings first.</a:t>
            </a:r>
          </a:p>
          <a:p>
            <a:pPr>
              <a:spcAft>
                <a:spcPts val="900"/>
              </a:spcAft>
              <a:defRPr sz="2000"/>
            </a:pPr>
            <a:r>
              <a:t>A simple ASCII approach is to convert characters with tolower().</a:t>
            </a:r>
          </a:p>
          <a:p>
            <a:pPr>
              <a:spcAft>
                <a:spcPts val="900"/>
              </a:spcAft>
              <a:defRPr sz="2000"/>
            </a:pPr>
            <a:r>
              <a:t>For international text, Unicode-aware case conversion may require specialized libraries.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a = "Admin";</a:t>
            </a:r>
            <a:br/>
            <a:r>
              <a:t>string b = "admin";</a:t>
            </a:r>
            <a:br/>
            <a:br/>
            <a:r>
              <a:t>cout &lt;&lt; (a == b); // 0</a:t>
            </a:r>
            <a:br/>
            <a:br/>
            <a:r>
              <a:t>// ASCII-oriented approach:</a:t>
            </a:r>
            <a:br/>
            <a:r>
              <a:t>for (char &amp;c : a)</a:t>
            </a:r>
            <a:br/>
            <a:r>
              <a:t>    c = static_cast&lt;char&gt;(tolower(c));</a:t>
            </a:r>
            <a:br/>
            <a:br/>
            <a:r>
              <a:t>for (char &amp;c : b)</a:t>
            </a:r>
            <a:br/>
            <a:r>
              <a:t>    c = static_cast&lt;char&gt;(tolower(c));</a:t>
            </a:r>
            <a:br/>
            <a:br/>
            <a:r>
              <a:t>cout &lt;&lt; (a == b); //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String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size() and length() return the number of characters.</a:t>
            </a:r>
          </a:p>
          <a:p>
            <a:pPr>
              <a:spcAft>
                <a:spcPts val="900"/>
              </a:spcAft>
              <a:defRPr sz="2000"/>
            </a:pPr>
            <a:r>
              <a:t>empty() checks whether the string contains zero characters.</a:t>
            </a:r>
          </a:p>
          <a:p>
            <a:pPr>
              <a:spcAft>
                <a:spcPts val="900"/>
              </a:spcAft>
              <a:defRPr sz="2000"/>
            </a:pPr>
            <a:r>
              <a:t>capacity() reports currently allocated storage capacity.</a:t>
            </a:r>
          </a:p>
          <a:p>
            <a:pPr>
              <a:spcAft>
                <a:spcPts val="900"/>
              </a:spcAft>
              <a:defRPr sz="2000"/>
            </a:pPr>
            <a:r>
              <a:t>max_size() gives an implementation-dependent theoretical maximum.</a:t>
            </a:r>
          </a:p>
          <a:p>
            <a:pPr>
              <a:spcAft>
                <a:spcPts val="900"/>
              </a:spcAft>
              <a:defRPr sz="2000"/>
            </a:pPr>
            <a:r>
              <a:t>Strings can contain embedded null characters, although c_str() exposes C-style representation.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latin typeface="Consolas"/>
              </a:defRPr>
            </a:pPr>
            <a:r>
              <a:t>string s = "Hello";</a:t>
            </a:r>
            <a:br/>
            <a:br/>
            <a:r>
              <a:t>cout &lt;&lt; s.size();      // 5</a:t>
            </a:r>
            <a:br/>
            <a:r>
              <a:t>cout &lt;&lt; s.length();    // 5</a:t>
            </a:r>
            <a:br/>
            <a:r>
              <a:t>cout &lt;&lt; s.empty();     // 0</a:t>
            </a:r>
            <a:br/>
            <a:r>
              <a:t>cout &lt;&lt; s.capacity();  // implementation-dependent</a:t>
            </a:r>
            <a:br/>
            <a:br/>
            <a:r>
              <a:t>s.clear();</a:t>
            </a:r>
            <a:br/>
            <a:r>
              <a:t>cout &lt;&lt; s.empty();     // 1</a:t>
            </a:r>
            <a:br/>
            <a:r>
              <a:t>cout &lt;&lt; s.size();      //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size() vs capacity() — Important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size = characters currently stored.</a:t>
            </a:r>
          </a:p>
          <a:p>
            <a:pPr>
              <a:spcAft>
                <a:spcPts val="900"/>
              </a:spcAft>
              <a:defRPr sz="2000"/>
            </a:pPr>
            <a:r>
              <a:t>capacity = storage available before another allocation may be required.</a:t>
            </a:r>
          </a:p>
          <a:p>
            <a:pPr>
              <a:spcAft>
                <a:spcPts val="900"/>
              </a:spcAft>
              <a:defRPr sz="2000"/>
            </a:pPr>
            <a:r>
              <a:t>Appending text changes size; capacity may or may not change.</a:t>
            </a:r>
          </a:p>
          <a:p>
            <a:pPr>
              <a:spcAft>
                <a:spcPts val="900"/>
              </a:spcAft>
              <a:defRPr sz="2000"/>
            </a:pPr>
            <a:r>
              <a:t>reserve(n) requests enough capacity for at least n characters.</a:t>
            </a:r>
          </a:p>
          <a:p>
            <a:pPr>
              <a:spcAft>
                <a:spcPts val="900"/>
              </a:spcAft>
              <a:defRPr sz="2000"/>
            </a:pPr>
            <a:r>
              <a:t>reserve() can reduce repeated reallocations when the final size is predictable.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latin typeface="Consolas"/>
              </a:defRPr>
            </a:pPr>
            <a:r>
              <a:t>string s;</a:t>
            </a:r>
            <a:br/>
            <a:br/>
            <a:r>
              <a:t>s.reserve(100);</a:t>
            </a:r>
            <a:br/>
            <a:br/>
            <a:r>
              <a:t>cout &lt;&lt; s.size() &lt;&lt; endl;     // 0</a:t>
            </a:r>
            <a:br/>
            <a:r>
              <a:t>cout &lt;&lt; s.capacity() &lt;&lt; endl; // &gt;= 100</a:t>
            </a:r>
            <a:br/>
            <a:br/>
            <a:r>
              <a:t>s = "Hello";</a:t>
            </a:r>
            <a:br/>
            <a:r>
              <a:t>cout &lt;&lt; s.size() &lt;&lt; endl;     // 5</a:t>
            </a:r>
            <a:br/>
            <a:br/>
            <a:r>
              <a:t>// size != capacity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Swapping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swap() exchanges the contents of two strings.</a:t>
            </a:r>
          </a:p>
          <a:p>
            <a:pPr>
              <a:spcAft>
                <a:spcPts val="900"/>
              </a:spcAft>
              <a:defRPr sz="2000"/>
            </a:pPr>
            <a:r>
              <a:t>It is clearer than manually copying through a temporary string.</a:t>
            </a:r>
          </a:p>
          <a:p>
            <a:pPr>
              <a:spcAft>
                <a:spcPts val="900"/>
              </a:spcAft>
              <a:defRPr sz="2000"/>
            </a:pPr>
            <a:r>
              <a:t>std::swap(a, b) is also available.</a:t>
            </a:r>
          </a:p>
          <a:p>
            <a:pPr>
              <a:spcAft>
                <a:spcPts val="900"/>
              </a:spcAft>
              <a:defRPr sz="2000"/>
            </a:pPr>
            <a:r>
              <a:t>Swapping is commonly used in sorting and rearrangement algorithms.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234440"/>
            <a:ext cx="5440680" cy="4983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latin typeface="Consolas"/>
              </a:defRPr>
            </a:pPr>
            <a:r>
              <a:t>string a = "C++";</a:t>
            </a:r>
            <a:br/>
            <a:r>
              <a:t>string b = "Python";</a:t>
            </a:r>
            <a:br/>
            <a:br/>
            <a:r>
              <a:t>a.swap(b);</a:t>
            </a:r>
            <a:br/>
            <a:br/>
            <a:r>
              <a:t>cout &lt;&lt; a &lt;&lt; endl; // Python</a:t>
            </a:r>
            <a:br/>
            <a:r>
              <a:t>cout &lt;&lt; b &lt;&lt; endl; // C++</a:t>
            </a:r>
            <a:br/>
            <a:br/>
            <a:r>
              <a:t>swap(a, b);        // std::swap</a:t>
            </a:r>
            <a:br/>
            <a:r>
              <a:t>cout &lt;&lt; a;         // C++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Using cin &gt;&gt; when the input contains spaces.</a:t>
            </a:r>
          </a:p>
          <a:p>
            <a:pPr>
              <a:spcAft>
                <a:spcPts val="900"/>
              </a:spcAft>
              <a:defRPr sz="1800"/>
            </a:pPr>
            <a:r>
              <a:t>Accessing s[s.size()] — the last valid index is s.size() - 1.</a:t>
            </a:r>
          </a:p>
          <a:p>
            <a:pPr>
              <a:spcAft>
                <a:spcPts val="900"/>
              </a:spcAft>
              <a:defRPr sz="1800"/>
            </a:pPr>
            <a:r>
              <a:t>Assuming compare() returns exactly -1, 0 or 1.</a:t>
            </a:r>
          </a:p>
          <a:p>
            <a:pPr>
              <a:spcAft>
                <a:spcPts val="900"/>
              </a:spcAft>
              <a:defRPr sz="1800"/>
            </a:pPr>
            <a:r>
              <a:t>Comparing find() result incorrectly instead of checking string::npos.</a:t>
            </a:r>
          </a:p>
          <a:p>
            <a:pPr>
              <a:spcAft>
                <a:spcPts val="900"/>
              </a:spcAft>
              <a:defRPr sz="1800"/>
            </a:pPr>
            <a:r>
              <a:t>Forgetting that string comparisons are case-sensitive.</a:t>
            </a:r>
          </a:p>
          <a:p>
            <a:pPr>
              <a:spcAft>
                <a:spcPts val="900"/>
              </a:spcAft>
              <a:defRPr sz="1800"/>
            </a:pPr>
            <a:r>
              <a:t>Confusing size() with capacity().</a:t>
            </a:r>
          </a:p>
          <a:p>
            <a:pPr>
              <a:spcAft>
                <a:spcPts val="900"/>
              </a:spcAft>
              <a:defRPr sz="1800"/>
            </a:pPr>
            <a:r>
              <a:t>Using C-style functions such as strlen() unnecessarily with std::string.</a:t>
            </a:r>
          </a:p>
          <a:p>
            <a:pPr>
              <a:spcAft>
                <a:spcPts val="900"/>
              </a:spcAft>
              <a:defRPr sz="1800"/>
            </a:pPr>
            <a:r>
              <a:t>Modifying a string while using an iterator/index without considering invalidation or changed positions.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1 — Simple: Character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Input a string and count:</a:t>
            </a:r>
          </a:p>
          <a:p>
            <a:pPr>
              <a:spcAft>
                <a:spcPts val="900"/>
              </a:spcAft>
              <a:defRPr sz="2000"/>
            </a:pPr>
            <a:r>
              <a:t>• total characters</a:t>
            </a:r>
          </a:p>
          <a:p>
            <a:pPr>
              <a:spcAft>
                <a:spcPts val="900"/>
              </a:spcAft>
              <a:defRPr sz="2000"/>
            </a:pPr>
            <a:r>
              <a:t>• uppercase letters</a:t>
            </a:r>
          </a:p>
          <a:p>
            <a:pPr>
              <a:spcAft>
                <a:spcPts val="900"/>
              </a:spcAft>
              <a:defRPr sz="2000"/>
            </a:pPr>
            <a:r>
              <a:t>• lowercase letters</a:t>
            </a:r>
          </a:p>
          <a:p>
            <a:pPr>
              <a:spcAft>
                <a:spcPts val="900"/>
              </a:spcAft>
              <a:defRPr sz="2000"/>
            </a:pPr>
            <a:r>
              <a:t>• digits</a:t>
            </a:r>
          </a:p>
          <a:p>
            <a:pPr>
              <a:spcAft>
                <a:spcPts val="900"/>
              </a:spcAft>
              <a:defRPr sz="2000"/>
            </a:pPr>
            <a:r>
              <a:t>• spaces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Example:</a:t>
            </a:r>
          </a:p>
          <a:p>
            <a:pPr>
              <a:spcAft>
                <a:spcPts val="900"/>
              </a:spcAft>
              <a:defRPr sz="2000"/>
            </a:pPr>
            <a:r>
              <a:t>Input: "C++ 2026"</a:t>
            </a:r>
          </a:p>
          <a:p>
            <a:pPr>
              <a:spcAft>
                <a:spcPts val="900"/>
              </a:spcAft>
              <a:defRPr sz="2000"/>
            </a:pPr>
            <a:r>
              <a:t>Output should show the five 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2 — Simple: Reverse a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Read a complete line using getline().</a:t>
            </a:r>
          </a:p>
          <a:p>
            <a:pPr>
              <a:spcAft>
                <a:spcPts val="900"/>
              </a:spcAft>
              <a:defRPr sz="2000"/>
            </a:pPr>
            <a:r>
              <a:t>Reverse the string using std::string operations and display it.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Example:</a:t>
            </a:r>
          </a:p>
          <a:p>
            <a:pPr>
              <a:spcAft>
                <a:spcPts val="900"/>
              </a:spcAft>
              <a:defRPr sz="2000"/>
            </a:pPr>
            <a:r>
              <a:t>Input: "Hello C++"</a:t>
            </a:r>
          </a:p>
          <a:p>
            <a:pPr>
              <a:spcAft>
                <a:spcPts val="900"/>
              </a:spcAft>
              <a:defRPr sz="2000"/>
            </a:pPr>
            <a:r>
              <a:t>Output: "++C olleH"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Do not use a second string if you can solve it by swapping characters.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3 — Difficult: Palindrome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Determine whether a sentence is a palindrome after:</a:t>
            </a:r>
          </a:p>
          <a:p>
            <a:pPr>
              <a:spcAft>
                <a:spcPts val="900"/>
              </a:spcAft>
              <a:defRPr sz="2000"/>
            </a:pPr>
            <a:r>
              <a:t>• removing spaces</a:t>
            </a:r>
          </a:p>
          <a:p>
            <a:pPr>
              <a:spcAft>
                <a:spcPts val="900"/>
              </a:spcAft>
              <a:defRPr sz="2000"/>
            </a:pPr>
            <a:r>
              <a:t>• ignoring punctuation</a:t>
            </a:r>
          </a:p>
          <a:p>
            <a:pPr>
              <a:spcAft>
                <a:spcPts val="900"/>
              </a:spcAft>
              <a:defRPr sz="2000"/>
            </a:pPr>
            <a:r>
              <a:t>• ignoring case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Example:</a:t>
            </a:r>
          </a:p>
          <a:p>
            <a:pPr>
              <a:spcAft>
                <a:spcPts val="900"/>
              </a:spcAft>
              <a:defRPr sz="2000"/>
            </a:pPr>
            <a:r>
              <a:t>"A man, a plan, a canal: Panama"</a:t>
            </a:r>
          </a:p>
          <a:p>
            <a:pPr>
              <a:spcAft>
                <a:spcPts val="900"/>
              </a:spcAft>
              <a:defRPr sz="2000"/>
            </a:pPr>
            <a:r>
              <a:t>should be considered a palindrome.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Do not use a ready-made reverse function.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4 — Difficult: Word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Read a paragraph and a target word.</a:t>
            </a:r>
          </a:p>
          <a:p>
            <a:pPr>
              <a:spcAft>
                <a:spcPts val="900"/>
              </a:spcAft>
              <a:defRPr sz="2000"/>
            </a:pPr>
            <a:r>
              <a:t>Count how many times the target word occurs as a complete word.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Requirements:</a:t>
            </a:r>
          </a:p>
          <a:p>
            <a:pPr>
              <a:spcAft>
                <a:spcPts val="900"/>
              </a:spcAft>
              <a:defRPr sz="2000"/>
            </a:pPr>
            <a:r>
              <a:t>• case-insensitive</a:t>
            </a:r>
          </a:p>
          <a:p>
            <a:pPr>
              <a:spcAft>
                <a:spcPts val="900"/>
              </a:spcAft>
              <a:defRPr sz="2000"/>
            </a:pPr>
            <a:r>
              <a:t>• punctuation should not break correct word detection</a:t>
            </a:r>
          </a:p>
          <a:p>
            <a:pPr>
              <a:spcAft>
                <a:spcPts val="900"/>
              </a:spcAft>
              <a:defRPr sz="2000"/>
            </a:pPr>
            <a:r>
              <a:t>• "cat" must not match "catalog"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Example:</a:t>
            </a:r>
          </a:p>
          <a:p>
            <a:pPr>
              <a:spcAft>
                <a:spcPts val="900"/>
              </a:spcAft>
              <a:defRPr sz="2000"/>
            </a:pPr>
            <a:r>
              <a:t>Text: "Cat, cat! The catalog has a cat."</a:t>
            </a:r>
          </a:p>
          <a:p>
            <a:pPr>
              <a:spcAft>
                <a:spcPts val="900"/>
              </a:spcAft>
              <a:defRPr sz="2000"/>
            </a:pPr>
            <a:r>
              <a:t>Target: "cat"</a:t>
            </a:r>
          </a:p>
          <a:p>
            <a:pPr>
              <a:spcAft>
                <a:spcPts val="900"/>
              </a:spcAft>
              <a:defRPr sz="2000"/>
            </a:pPr>
            <a:r>
              <a:t>Count: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5 — Difficult: Longest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Read a complete sentence and find:</a:t>
            </a:r>
          </a:p>
          <a:p>
            <a:pPr>
              <a:spcAft>
                <a:spcPts val="900"/>
              </a:spcAft>
              <a:defRPr sz="2000"/>
            </a:pPr>
            <a:r>
              <a:t>• longest word</a:t>
            </a:r>
          </a:p>
          <a:p>
            <a:pPr>
              <a:spcAft>
                <a:spcPts val="900"/>
              </a:spcAft>
              <a:defRPr sz="2000"/>
            </a:pPr>
            <a:r>
              <a:t>• its length</a:t>
            </a:r>
          </a:p>
          <a:p>
            <a:pPr>
              <a:spcAft>
                <a:spcPts val="900"/>
              </a:spcAft>
              <a:defRPr sz="2000"/>
            </a:pPr>
            <a:r>
              <a:t>• its first position in the original sentence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Ignore punctuation at the beginning/end of words.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If multiple words have the same maximum length, return the first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6 — Difficult: Compress Repeated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Implement simple run-length encoding.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Input:</a:t>
            </a:r>
          </a:p>
          <a:p>
            <a:pPr>
              <a:spcAft>
                <a:spcPts val="900"/>
              </a:spcAft>
              <a:defRPr sz="2000"/>
            </a:pPr>
            <a:r>
              <a:t>"aaabbccccdaa"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Output:</a:t>
            </a:r>
          </a:p>
          <a:p>
            <a:pPr>
              <a:spcAft>
                <a:spcPts val="900"/>
              </a:spcAft>
              <a:defRPr sz="2000"/>
            </a:pPr>
            <a:r>
              <a:t>"a3b2c4d1a2"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Rules:</a:t>
            </a:r>
          </a:p>
          <a:p>
            <a:pPr>
              <a:spcAft>
                <a:spcPts val="900"/>
              </a:spcAft>
              <a:defRPr sz="2000"/>
            </a:pPr>
            <a:r>
              <a:t>• preserve order</a:t>
            </a:r>
          </a:p>
          <a:p>
            <a:pPr>
              <a:spcAft>
                <a:spcPts val="900"/>
              </a:spcAft>
              <a:defRPr sz="2000"/>
            </a:pPr>
            <a:r>
              <a:t>• handle a single character</a:t>
            </a:r>
          </a:p>
          <a:p>
            <a:pPr>
              <a:spcAft>
                <a:spcPts val="900"/>
              </a:spcAft>
              <a:defRPr sz="2000"/>
            </a:pPr>
            <a:r>
              <a:t>• do not use regular expressions</a:t>
            </a:r>
          </a:p>
          <a:p>
            <a:pPr>
              <a:spcAft>
                <a:spcPts val="900"/>
              </a:spcAft>
              <a:defRPr sz="2000"/>
            </a:pPr>
            <a:r>
              <a:t>• explain how your algorithm handles the final run.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7 — Difficult: Anagram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Read two strings and determine whether they are anagrams.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Requirements:</a:t>
            </a:r>
          </a:p>
          <a:p>
            <a:pPr>
              <a:spcAft>
                <a:spcPts val="900"/>
              </a:spcAft>
              <a:defRPr sz="2000"/>
            </a:pPr>
            <a:r>
              <a:t>• ignore spaces and punctuation</a:t>
            </a:r>
          </a:p>
          <a:p>
            <a:pPr>
              <a:spcAft>
                <a:spcPts val="900"/>
              </a:spcAft>
              <a:defRPr sz="2000"/>
            </a:pPr>
            <a:r>
              <a:t>• ignore case</a:t>
            </a:r>
          </a:p>
          <a:p>
            <a:pPr>
              <a:spcAft>
                <a:spcPts val="900"/>
              </a:spcAft>
              <a:defRPr sz="2000"/>
            </a:pPr>
            <a:r>
              <a:t>• "listen" and "silent" → true</a:t>
            </a:r>
          </a:p>
          <a:p>
            <a:pPr>
              <a:spcAft>
                <a:spcPts val="900"/>
              </a:spcAft>
              <a:defRPr sz="2000"/>
            </a:pPr>
            <a:r>
              <a:t>• "hello" and "world" → false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Solve it without sorting the strings.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8 — Difficult: Replace All Occurrences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Write a function:</a:t>
            </a:r>
          </a:p>
          <a:p>
            <a:pPr>
              <a:spcAft>
                <a:spcPts val="900"/>
              </a:spcAft>
              <a:defRPr sz="2000"/>
            </a:pPr>
            <a:r>
              <a:t>replaceAll(string text, string oldText, string newText)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It must replace every occurrence of oldText.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Example:</a:t>
            </a:r>
          </a:p>
          <a:p>
            <a:pPr>
              <a:spcAft>
                <a:spcPts val="900"/>
              </a:spcAft>
              <a:defRPr sz="2000"/>
            </a:pPr>
            <a:r>
              <a:t>Text: "I like C++. C++ is fast."</a:t>
            </a:r>
          </a:p>
          <a:p>
            <a:pPr>
              <a:spcAft>
                <a:spcPts val="900"/>
              </a:spcAft>
              <a:defRPr sz="2000"/>
            </a:pPr>
            <a:r>
              <a:t>oldText: "C++"</a:t>
            </a:r>
          </a:p>
          <a:p>
            <a:pPr>
              <a:spcAft>
                <a:spcPts val="900"/>
              </a:spcAft>
              <a:defRPr sz="2000"/>
            </a:pPr>
            <a:r>
              <a:t>newText: "C#"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Output:</a:t>
            </a:r>
          </a:p>
          <a:p>
            <a:pPr>
              <a:spcAft>
                <a:spcPts val="900"/>
              </a:spcAft>
              <a:defRPr sz="2000"/>
            </a:pPr>
            <a:r>
              <a:t>"I like C#. C# is fast."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Consider:</a:t>
            </a:r>
          </a:p>
          <a:p>
            <a:pPr>
              <a:spcAft>
                <a:spcPts val="900"/>
              </a:spcAft>
              <a:defRPr sz="2000"/>
            </a:pPr>
            <a:r>
              <a:t>• oldText not found</a:t>
            </a:r>
          </a:p>
          <a:p>
            <a:pPr>
              <a:spcAft>
                <a:spcPts val="900"/>
              </a:spcAft>
              <a:defRPr sz="2000"/>
            </a:pPr>
            <a:r>
              <a:t>• oldText empty</a:t>
            </a:r>
          </a:p>
          <a:p>
            <a:pPr>
              <a:spcAft>
                <a:spcPts val="900"/>
              </a:spcAft>
              <a:defRPr sz="2000"/>
            </a:pPr>
            <a:r>
              <a:t>• overlapping-looking patterns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9 — Difficult: Expression Validator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Validate a simple mathematical expression containing:</a:t>
            </a:r>
          </a:p>
          <a:p>
            <a:pPr>
              <a:spcAft>
                <a:spcPts val="900"/>
              </a:spcAft>
              <a:defRPr sz="2000"/>
            </a:pPr>
            <a:r>
              <a:t>digits, + - * /, spaces, and parentheses.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Check:</a:t>
            </a:r>
          </a:p>
          <a:p>
            <a:pPr>
              <a:spcAft>
                <a:spcPts val="900"/>
              </a:spcAft>
              <a:defRPr sz="2000"/>
            </a:pPr>
            <a:r>
              <a:t>• balanced parentheses</a:t>
            </a:r>
          </a:p>
          <a:p>
            <a:pPr>
              <a:spcAft>
                <a:spcPts val="900"/>
              </a:spcAft>
              <a:defRPr sz="2000"/>
            </a:pPr>
            <a:r>
              <a:t>• no operator at the beginning/end</a:t>
            </a:r>
          </a:p>
          <a:p>
            <a:pPr>
              <a:spcAft>
                <a:spcPts val="900"/>
              </a:spcAft>
              <a:defRPr sz="2000"/>
            </a:pPr>
            <a:r>
              <a:t>• no two operators consecutively</a:t>
            </a:r>
          </a:p>
          <a:p>
            <a:pPr>
              <a:spcAft>
                <a:spcPts val="900"/>
              </a:spcAft>
              <a:defRPr sz="2000"/>
            </a:pPr>
            <a:r>
              <a:t>• no two numbers directly adjacent without an operator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Examples:</a:t>
            </a:r>
          </a:p>
          <a:p>
            <a:pPr>
              <a:spcAft>
                <a:spcPts val="900"/>
              </a:spcAft>
              <a:defRPr sz="2000"/>
            </a:pPr>
            <a:r>
              <a:t>"12 + (5 * 3)" → Valid</a:t>
            </a:r>
          </a:p>
          <a:p>
            <a:pPr>
              <a:spcAft>
                <a:spcPts val="900"/>
              </a:spcAft>
              <a:defRPr sz="2000"/>
            </a:pPr>
            <a:r>
              <a:t>"12 ++ 5" → Invalid</a:t>
            </a:r>
          </a:p>
          <a:p>
            <a:pPr>
              <a:spcAft>
                <a:spcPts val="900"/>
              </a:spcAft>
              <a:defRPr sz="2000"/>
            </a:pPr>
            <a:r>
              <a:t>"(10 + 2" → Invalid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You do not need to calculate the result.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10 — Difficult: Smart Log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Given a multi-line log stored as one string, analyze lines like: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2026-09-24 ERROR User login failed</a:t>
            </a:r>
          </a:p>
          <a:p>
            <a:pPr>
              <a:spcAft>
                <a:spcPts val="900"/>
              </a:spcAft>
              <a:defRPr sz="2000"/>
            </a:pPr>
            <a:r>
              <a:t>2026-09-24 INFO User logged in</a:t>
            </a:r>
          </a:p>
          <a:p>
            <a:pPr>
              <a:spcAft>
                <a:spcPts val="900"/>
              </a:spcAft>
              <a:defRPr sz="2000"/>
            </a:pPr>
            <a:r>
              <a:t>2026-09-24 ERROR Database timeout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Produce:</a:t>
            </a:r>
          </a:p>
          <a:p>
            <a:pPr>
              <a:spcAft>
                <a:spcPts val="900"/>
              </a:spcAft>
              <a:defRPr sz="2000"/>
            </a:pPr>
            <a:r>
              <a:t>• total log entries</a:t>
            </a:r>
          </a:p>
          <a:p>
            <a:pPr>
              <a:spcAft>
                <a:spcPts val="900"/>
              </a:spcAft>
              <a:defRPr sz="2000"/>
            </a:pPr>
            <a:r>
              <a:t>• ERROR count</a:t>
            </a:r>
          </a:p>
          <a:p>
            <a:pPr>
              <a:spcAft>
                <a:spcPts val="900"/>
              </a:spcAft>
              <a:defRPr sz="2000"/>
            </a:pPr>
            <a:r>
              <a:t>• INFO count</a:t>
            </a:r>
          </a:p>
          <a:p>
            <a:pPr>
              <a:spcAft>
                <a:spcPts val="900"/>
              </a:spcAft>
              <a:defRPr sz="2000"/>
            </a:pPr>
            <a:r>
              <a:t>• most frequent ERROR message</a:t>
            </a:r>
          </a:p>
          <a:p>
            <a:pPr>
              <a:spcAft>
                <a:spcPts val="900"/>
              </a:spcAft>
              <a:defRPr sz="2000"/>
            </a:pPr>
            <a:r>
              <a:t>• date of the first ERROR</a:t>
            </a:r>
          </a:p>
          <a:p>
            <a:pPr>
              <a:spcAft>
                <a:spcPts val="900"/>
              </a:spcAft>
              <a:defRPr sz="2000"/>
            </a:pPr>
            <a:endParaRPr/>
          </a:p>
          <a:p>
            <a:pPr>
              <a:spcAft>
                <a:spcPts val="900"/>
              </a:spcAft>
              <a:defRPr sz="2000"/>
            </a:pPr>
            <a:r>
              <a:t>Challenge:</a:t>
            </a:r>
          </a:p>
          <a:p>
            <a:pPr>
              <a:spcAft>
                <a:spcPts val="900"/>
              </a:spcAft>
              <a:defRPr sz="2000"/>
            </a:pPr>
            <a:r>
              <a:t>Do not use stringstream for the main parsing logic; use find(), substr(), compare(), and related string operations.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Extra Challenge: Combine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Create a small 'Student Name Manager'.</a:t>
            </a:r>
          </a:p>
          <a:p>
            <a:pPr>
              <a:spcAft>
                <a:spcPts val="900"/>
              </a:spcAft>
              <a:defRPr sz="2000"/>
            </a:pPr>
            <a:r>
              <a:t>Store 10 student names in an array/vector of strings.</a:t>
            </a:r>
          </a:p>
          <a:p>
            <a:pPr>
              <a:spcAft>
                <a:spcPts val="900"/>
              </a:spcAft>
              <a:defRPr sz="2000"/>
            </a:pPr>
            <a:r>
              <a:t>Trim obvious extra spaces.</a:t>
            </a:r>
          </a:p>
          <a:p>
            <a:pPr>
              <a:spcAft>
                <a:spcPts val="900"/>
              </a:spcAft>
              <a:defRPr sz="2000"/>
            </a:pPr>
            <a:r>
              <a:t>Compare names case-insensitively.</a:t>
            </a:r>
          </a:p>
          <a:p>
            <a:pPr>
              <a:spcAft>
                <a:spcPts val="900"/>
              </a:spcAft>
              <a:defRPr sz="2000"/>
            </a:pPr>
            <a:r>
              <a:t>Search for a name.</a:t>
            </a:r>
          </a:p>
          <a:p>
            <a:pPr>
              <a:spcAft>
                <a:spcPts val="900"/>
              </a:spcAft>
              <a:defRPr sz="2000"/>
            </a:pPr>
            <a:r>
              <a:t>Sort names alphabetically.</a:t>
            </a:r>
          </a:p>
          <a:p>
            <a:pPr>
              <a:spcAft>
                <a:spcPts val="900"/>
              </a:spcAft>
              <a:defRPr sz="2000"/>
            </a:pPr>
            <a:r>
              <a:t>Swap two selected names.</a:t>
            </a:r>
          </a:p>
          <a:p>
            <a:pPr>
              <a:spcAft>
                <a:spcPts val="900"/>
              </a:spcAft>
              <a:defRPr sz="2000"/>
            </a:pPr>
            <a:r>
              <a:t>Display the shortest and longest names.</a:t>
            </a:r>
          </a:p>
          <a:p>
            <a:pPr>
              <a:spcAft>
                <a:spcPts val="900"/>
              </a:spcAft>
              <a:defRPr sz="2000"/>
            </a:pPr>
            <a:r>
              <a:t>Count how many names contain a given substring.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Suggested Concepts to Use in the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Manipulating Strings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Problems 1–2: getline(), size(), indexing, swap().</a:t>
            </a:r>
          </a:p>
          <a:p>
            <a:pPr>
              <a:spcAft>
                <a:spcPts val="900"/>
              </a:spcAft>
              <a:defRPr sz="1800"/>
            </a:pPr>
            <a:r>
              <a:t>Problem 3: tolower(), isalnum(), two-pointer comparison.</a:t>
            </a:r>
          </a:p>
          <a:p>
            <a:pPr>
              <a:spcAft>
                <a:spcPts val="900"/>
              </a:spcAft>
              <a:defRPr sz="1800"/>
            </a:pPr>
            <a:r>
              <a:t>Problem 4: find(), substr(), character classification.</a:t>
            </a:r>
          </a:p>
          <a:p>
            <a:pPr>
              <a:spcAft>
                <a:spcPts val="900"/>
              </a:spcAft>
              <a:defRPr sz="1800"/>
            </a:pPr>
            <a:r>
              <a:t>Problem 5: traversal, find(), substr(), punctuation handling.</a:t>
            </a:r>
          </a:p>
          <a:p>
            <a:pPr>
              <a:spcAft>
                <a:spcPts val="900"/>
              </a:spcAft>
              <a:defRPr sz="1800"/>
            </a:pPr>
            <a:r>
              <a:t>Problem 6: consecutive-character traversal.</a:t>
            </a:r>
          </a:p>
          <a:p>
            <a:pPr>
              <a:spcAft>
                <a:spcPts val="900"/>
              </a:spcAft>
              <a:defRPr sz="1800"/>
            </a:pPr>
            <a:r>
              <a:t>Problem 7: frequency counting with an array[256] or suitable character map.</a:t>
            </a:r>
          </a:p>
          <a:p>
            <a:pPr>
              <a:spcAft>
                <a:spcPts val="900"/>
              </a:spcAft>
              <a:defRPr sz="1800"/>
            </a:pPr>
            <a:r>
              <a:t>Problem 8: find(), replace(), careful index movement.</a:t>
            </a:r>
          </a:p>
          <a:p>
            <a:pPr>
              <a:spcAft>
                <a:spcPts val="900"/>
              </a:spcAft>
              <a:defRPr sz="1800"/>
            </a:pPr>
            <a:r>
              <a:t>Problem 9: state tracking + parentheses counter/stack.</a:t>
            </a:r>
          </a:p>
          <a:p>
            <a:pPr>
              <a:spcAft>
                <a:spcPts val="900"/>
              </a:spcAft>
              <a:defRPr sz="1800"/>
            </a:pPr>
            <a:r>
              <a:t>Problem 10: find(), substr(), compare(), line-by-line parsing.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2778</Words>
  <Application>Microsoft Office PowerPoint</Application>
  <PresentationFormat>Widescreen</PresentationFormat>
  <Paragraphs>277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Pinkeshkumar Patel</cp:lastModifiedBy>
  <cp:revision>3</cp:revision>
  <dcterms:created xsi:type="dcterms:W3CDTF">2013-01-27T09:14:16Z</dcterms:created>
  <dcterms:modified xsi:type="dcterms:W3CDTF">2026-09-24T12:36:31Z</dcterms:modified>
  <cp:category/>
</cp:coreProperties>
</file>