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40"/>
  </p:notesMasterIdLst>
  <p:sldIdLst>
    <p:sldId id="256" r:id="rId3"/>
    <p:sldId id="257" r:id="rId4"/>
    <p:sldId id="290" r:id="rId5"/>
    <p:sldId id="321" r:id="rId6"/>
    <p:sldId id="291" r:id="rId7"/>
    <p:sldId id="322" r:id="rId8"/>
    <p:sldId id="258" r:id="rId9"/>
    <p:sldId id="259" r:id="rId10"/>
    <p:sldId id="261" r:id="rId11"/>
    <p:sldId id="262" r:id="rId12"/>
    <p:sldId id="263" r:id="rId13"/>
    <p:sldId id="271" r:id="rId14"/>
    <p:sldId id="270" r:id="rId15"/>
    <p:sldId id="272" r:id="rId16"/>
    <p:sldId id="269" r:id="rId17"/>
    <p:sldId id="265" r:id="rId18"/>
    <p:sldId id="266" r:id="rId19"/>
    <p:sldId id="323" r:id="rId20"/>
    <p:sldId id="324" r:id="rId21"/>
    <p:sldId id="267" r:id="rId22"/>
    <p:sldId id="268" r:id="rId23"/>
    <p:sldId id="275" r:id="rId24"/>
    <p:sldId id="276" r:id="rId25"/>
    <p:sldId id="277" r:id="rId26"/>
    <p:sldId id="278" r:id="rId27"/>
    <p:sldId id="325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73" r:id="rId37"/>
    <p:sldId id="274" r:id="rId38"/>
    <p:sldId id="326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05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DB753-1E08-585C-35A5-F0BE0CF1C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3A22A-819E-A57B-0BF4-045CFD997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763B7-0D13-428F-5FAC-E9E594573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C6AF1-B03D-ABC7-6E86-BBE8D52A9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98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362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8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79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12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18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94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2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82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2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39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93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0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53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17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237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18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09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07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Principles, Classes, Constructors &amp; Destructors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hard tricky examples to test your understanding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1371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OOP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057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vs. Object-Oriented Programming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743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OOP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Applications of OOP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4114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and Classes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3720" y="1371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Public Members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2057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Data Members &amp; Member Functions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457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2743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and their Types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429000"/>
            <a:ext cx="457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76EE7-EDFC-C659-5D80-CC5766F66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F9FED3-BA9B-B81A-ED7F-591291D23E97}"/>
              </a:ext>
            </a:extLst>
          </p:cNvPr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Covered in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231F5E-6A70-47E1-FC27-16626A15EFC1}"/>
              </a:ext>
            </a:extLst>
          </p:cNvPr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607868-21C7-4F4D-261E-996D5377AC8E}"/>
              </a:ext>
            </a:extLst>
          </p:cNvPr>
          <p:cNvSpPr/>
          <p:nvPr/>
        </p:nvSpPr>
        <p:spPr>
          <a:xfrm>
            <a:off x="1234440" y="1371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Keyword, variable, Constant</a:t>
            </a: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864911-17FA-B61D-548C-A8BACCF18EA2}"/>
              </a:ext>
            </a:extLst>
          </p:cNvPr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F28330-3756-0A7A-F3AF-26881CAB6549}"/>
              </a:ext>
            </a:extLst>
          </p:cNvPr>
          <p:cNvSpPr/>
          <p:nvPr/>
        </p:nvSpPr>
        <p:spPr>
          <a:xfrm>
            <a:off x="1234440" y="2057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type casting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FAE903C-3D48-BDEA-7F85-FCD72245D21F}"/>
              </a:ext>
            </a:extLst>
          </p:cNvPr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ECA4BA3-5DF2-0473-2BF8-01A8223EC2D8}"/>
              </a:ext>
            </a:extLst>
          </p:cNvPr>
          <p:cNvSpPr/>
          <p:nvPr/>
        </p:nvSpPr>
        <p:spPr>
          <a:xfrm>
            <a:off x="1234440" y="2743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Array, String, Functions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2F720C6-2F33-1695-3461-2C0F27C64CD0}"/>
              </a:ext>
            </a:extLst>
          </p:cNvPr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7075755-D9C1-73BE-9860-D9172259317C}"/>
              </a:ext>
            </a:extLst>
          </p:cNvPr>
          <p:cNvSpPr/>
          <p:nvPr/>
        </p:nvSpPr>
        <p:spPr>
          <a:xfrm>
            <a:off x="123444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AD67FCB-6FF0-6151-868E-1251C767368B}"/>
              </a:ext>
            </a:extLst>
          </p:cNvPr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F3BB21A-C10C-721C-569A-DB2BA6BB8EDA}"/>
              </a:ext>
            </a:extLst>
          </p:cNvPr>
          <p:cNvSpPr/>
          <p:nvPr/>
        </p:nvSpPr>
        <p:spPr>
          <a:xfrm>
            <a:off x="1234440" y="4114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statements: If, For, Foreach, While, do while, switch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D0AAD98-3A19-1F31-44BA-773E4410D5C2}"/>
              </a:ext>
            </a:extLst>
          </p:cNvPr>
          <p:cNvSpPr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60940BF-9EA6-365A-8A98-184B586E0171}"/>
              </a:ext>
            </a:extLst>
          </p:cNvPr>
          <p:cNvSpPr/>
          <p:nvPr/>
        </p:nvSpPr>
        <p:spPr>
          <a:xfrm>
            <a:off x="6903720" y="1371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/>
              <a:t>Functions, parameters in function, call by value, call by pointer, call by reference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00FE0E-66A6-1227-BF76-AF13639E95D8}"/>
              </a:ext>
            </a:extLst>
          </p:cNvPr>
          <p:cNvSpPr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B12B215-68EC-524B-92A7-A6EFA48E0CBD}"/>
              </a:ext>
            </a:extLst>
          </p:cNvPr>
          <p:cNvSpPr/>
          <p:nvPr/>
        </p:nvSpPr>
        <p:spPr>
          <a:xfrm>
            <a:off x="6903720" y="2057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664BF07-904C-841D-423E-9371E7AA1A32}"/>
              </a:ext>
            </a:extLst>
          </p:cNvPr>
          <p:cNvSpPr/>
          <p:nvPr/>
        </p:nvSpPr>
        <p:spPr>
          <a:xfrm>
            <a:off x="6309360" y="2743200"/>
            <a:ext cx="457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C70C1CA-F01E-587D-F079-F0CEF74FAA4C}"/>
              </a:ext>
            </a:extLst>
          </p:cNvPr>
          <p:cNvSpPr/>
          <p:nvPr/>
        </p:nvSpPr>
        <p:spPr>
          <a:xfrm>
            <a:off x="6903720" y="2743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overloading, 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2BF93EF-D540-949B-90CD-3F721B5A1345}"/>
              </a:ext>
            </a:extLst>
          </p:cNvPr>
          <p:cNvSpPr/>
          <p:nvPr/>
        </p:nvSpPr>
        <p:spPr>
          <a:xfrm>
            <a:off x="6309360" y="3429000"/>
            <a:ext cx="457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422F735-13C9-53FC-1298-E29AF0D18751}"/>
              </a:ext>
            </a:extLst>
          </p:cNvPr>
          <p:cNvSpPr/>
          <p:nvPr/>
        </p:nvSpPr>
        <p:spPr>
          <a:xfrm>
            <a:off x="690372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Inbuild math functions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5EFA12B-DC22-1838-81CD-905B2262AC8D}"/>
              </a:ext>
            </a:extLst>
          </p:cNvPr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04062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</a:t>
            </a:r>
            <a:r>
              <a:rPr lang="en-US" b="1" dirty="0"/>
              <a:t> method overloading</a:t>
            </a:r>
            <a:r>
              <a:rPr lang="en-US" dirty="0"/>
              <a:t>, multiple methods can have the same name with different parameters:</a:t>
            </a:r>
          </a:p>
          <a:p>
            <a:r>
              <a:rPr lang="en-US" b="1" dirty="0"/>
              <a:t>1. By changing the Number of Parameters</a:t>
            </a:r>
          </a:p>
          <a:p>
            <a:r>
              <a:rPr lang="en-US" b="1" dirty="0"/>
              <a:t>2. By changing the Data types of the parameters</a:t>
            </a:r>
          </a:p>
          <a:p>
            <a:r>
              <a:rPr lang="en-US" b="1" dirty="0"/>
              <a:t>3. By changing the Order of the parameters</a:t>
            </a:r>
          </a:p>
          <a:p>
            <a:endParaRPr lang="en-US" dirty="0"/>
          </a:p>
          <a:p>
            <a:r>
              <a:rPr lang="en-US"/>
              <a:t>https://www.geeksforgeeks.org/c-sharp-method-overloading/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066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E9796-73BE-8D13-DE6A-94CA72D1C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836" y="1352260"/>
            <a:ext cx="8078327" cy="415348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29523D78-F9CF-30B5-4C52-C8E6A35612A8}"/>
              </a:ext>
            </a:extLst>
          </p:cNvPr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Overloading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2066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E24B6B8-2D57-5008-E049-743D69CEEA07}"/>
              </a:ext>
            </a:extLst>
          </p:cNvPr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Math functions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0B22B-A871-12AF-31ED-194782E25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21" y="1242230"/>
            <a:ext cx="9916909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13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371600"/>
            <a:ext cx="60807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is a programming paradigm based on the concept of “objects”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38528"/>
            <a:ext cx="60807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bundles together data (attributes) and the code that operates on that data (methods)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0545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05456"/>
            <a:ext cx="60807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real-world entities directly: a Car, a BankAccount, a Student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17520"/>
            <a:ext cx="60807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OOP languages: C++, Java, C#, Python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89520" y="1371600"/>
            <a:ext cx="3657600" cy="3931920"/>
          </a:xfrm>
          <a:prstGeom prst="rect">
            <a:avLst/>
          </a:prstGeom>
          <a:solidFill>
            <a:srgbClr val="F5F5F5"/>
          </a:solidFill>
          <a:ln w="1905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Object: Car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63840" y="2011680"/>
            <a:ext cx="3108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(Attributes)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speed, fuelLevel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18320" y="3017520"/>
            <a:ext cx="9144" cy="27432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863840" y="3291840"/>
            <a:ext cx="3108960" cy="1005840"/>
          </a:xfrm>
          <a:prstGeom prst="rect">
            <a:avLst/>
          </a:prstGeom>
          <a:solidFill>
            <a:srgbClr val="0D47A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(Methods)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accelerate(), brake()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Procedural Programming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Top-down: a main program calls functions, which may call further functions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24248" y="1417320"/>
            <a:ext cx="27432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242316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- 1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90008" y="242316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- 2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0" y="2423160"/>
            <a:ext cx="2011680" cy="502920"/>
          </a:xfrm>
          <a:prstGeom prst="rect">
            <a:avLst/>
          </a:prstGeom>
          <a:solidFill>
            <a:srgbClr val="0D47A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- 3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342900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- 4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3429000"/>
            <a:ext cx="2011680" cy="502920"/>
          </a:xfrm>
          <a:prstGeom prst="rect">
            <a:avLst/>
          </a:prstGeom>
          <a:solidFill>
            <a:srgbClr val="0D47A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- 5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43484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- 6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90008" y="443484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- 7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0" y="4434840"/>
            <a:ext cx="2011680" cy="502920"/>
          </a:xfrm>
          <a:prstGeom prst="rect">
            <a:avLst/>
          </a:prstGeom>
          <a:solidFill>
            <a:srgbClr val="0D47A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- 8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2377440" y="1965960"/>
            <a:ext cx="3718408" cy="45720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6095848" y="1965960"/>
            <a:ext cx="0" cy="45720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95848" y="1965960"/>
            <a:ext cx="3688232" cy="45720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377440" y="2926080"/>
            <a:ext cx="1828800" cy="50292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4206240" y="2926080"/>
            <a:ext cx="1889608" cy="50292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95848" y="2926080"/>
            <a:ext cx="1859432" cy="50292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7955280" y="2926080"/>
            <a:ext cx="1828800" cy="50292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2377440" y="3931920"/>
            <a:ext cx="1828800" cy="50292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06240" y="3931920"/>
            <a:ext cx="1889608" cy="50292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6095848" y="3931920"/>
            <a:ext cx="1859432" cy="50292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55280" y="3931920"/>
            <a:ext cx="1828800" cy="50292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 ⇔  Typical structure of procedure-oriented programs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Tricky Example #1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332720" y="365760"/>
            <a:ext cx="100584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PROCEDURAL PROGRAMMING — SCOPE &amp; PARAMETER PASSING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669280" cy="338328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update(int x) {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* 2;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update(x);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x;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5120" y="1463040"/>
            <a:ext cx="4754880" cy="3383280"/>
          </a:xfrm>
          <a:prstGeom prst="rect">
            <a:avLst/>
          </a:prstGeom>
          <a:solidFill>
            <a:srgbClr val="F5F5F5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20574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value is printed by cout &lt;&lt; x; in main()?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4023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carefully about how the argument is passed into update().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Tricky Example #1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292608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51560" y="265176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passed by value — update() receives a copy of the global x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x = x * 2 inside update() modifies only the local copy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374904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x in main() is never touched, so it still prints 5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429768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fragility procedural code struggles with: it's easy to assume shared state changed when it didn't (or vice-versa)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4846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484632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addresses this by binding data and behavior together inside objects, with clear rules for what can modify what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OOP?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the functions that act on it are bundled together inside objects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2918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0" y="1371600"/>
            <a:ext cx="32918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60020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2560320"/>
            <a:ext cx="1828800" cy="411480"/>
          </a:xfrm>
          <a:prstGeom prst="rect">
            <a:avLst/>
          </a:prstGeom>
          <a:solidFill>
            <a:srgbClr val="0D47A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011680"/>
            <a:ext cx="9144" cy="54864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686800" y="160020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0" y="2560320"/>
            <a:ext cx="1828800" cy="411480"/>
          </a:xfrm>
          <a:prstGeom prst="rect">
            <a:avLst/>
          </a:prstGeom>
          <a:solidFill>
            <a:srgbClr val="0D47A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0" y="2011680"/>
            <a:ext cx="9144" cy="54864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74720" y="2766060"/>
            <a:ext cx="5212080" cy="9144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566160" y="22631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49928" y="4160520"/>
            <a:ext cx="32918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9928" y="3794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81448" y="4389120"/>
            <a:ext cx="1828800" cy="411480"/>
          </a:xfrm>
          <a:prstGeom prst="rect">
            <a:avLst/>
          </a:prstGeom>
          <a:solidFill>
            <a:srgbClr val="0D47A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81448" y="534924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6095848" y="4800600"/>
            <a:ext cx="9144" cy="54864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60320" y="2971800"/>
            <a:ext cx="2895448" cy="141732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6735928" y="2971800"/>
            <a:ext cx="2865272" cy="141732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48640" y="63093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 ⇔  Organization of data and functions in OOP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Basics of a Class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280160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user-defined blueprint / template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470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data members and member functions its objects will have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140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414016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is allocated for data until an object is created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809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980944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using the keyword class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1280160"/>
            <a:ext cx="4754880" cy="393192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rollNo;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setData(int r, string n)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rollNo = r;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 = n;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display()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rollNo &lt;&lt; " " &lt;&lt; name;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Basics of an Object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280160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is a runtime instance of a class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470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state (data / attributes) and behavior (member functions)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140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414016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gets its own copy of the data members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809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980944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using the class as a blueprint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1280160"/>
            <a:ext cx="4754880" cy="393192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color;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speed;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accelerate() { speed += 10;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 myCar;          // object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myCar.color = "Red";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myCar.speed = 0;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myCar.accelerate();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15</a:t>
            </a:r>
            <a:endParaRPr lang="en-US" sz="1000" dirty="0"/>
          </a:p>
        </p:txBody>
      </p:sp>
      <p:pic>
        <p:nvPicPr>
          <p:cNvPr id="13" name="Picture 12" descr="Class">
            <a:extLst>
              <a:ext uri="{FF2B5EF4-FFF2-40B4-BE49-F238E27FC236}">
                <a16:creationId xmlns:a16="http://schemas.microsoft.com/office/drawing/2014/main" id="{2DF53439-B8F6-B40B-D159-5BCE3DBDD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70653"/>
            <a:ext cx="5417946" cy="21739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vs. Object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120640" cy="2011680"/>
          </a:xfrm>
          <a:prstGeom prst="rect">
            <a:avLst/>
          </a:prstGeom>
          <a:solidFill>
            <a:srgbClr val="F5F5F5"/>
          </a:solidFill>
          <a:ln w="1905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Student  (blueprint)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Defines: rollNo, name, setData(), display()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used until objects are made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2286000"/>
            <a:ext cx="640080" cy="9144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675120" y="1280160"/>
            <a:ext cx="2377440" cy="914400"/>
          </a:xfrm>
          <a:prstGeom prst="rect">
            <a:avLst/>
          </a:prstGeom>
          <a:solidFill>
            <a:srgbClr val="0D47A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s1;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 101, “Asha”)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0" y="1280160"/>
            <a:ext cx="2377440" cy="914400"/>
          </a:xfrm>
          <a:prstGeom prst="rect">
            <a:avLst/>
          </a:prstGeom>
          <a:solidFill>
            <a:srgbClr val="0D47A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s2;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 102, “Ravi”)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2377440" cy="914400"/>
          </a:xfrm>
          <a:prstGeom prst="rect">
            <a:avLst/>
          </a:prstGeom>
          <a:solidFill>
            <a:srgbClr val="0D47A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s3;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 103, “Kabir”)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235440" y="2377440"/>
            <a:ext cx="2377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so 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→ many independent objects, each with its own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Applications of 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6916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— objects are self-contained units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 through inheritance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via encapsulation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3375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maintenance &amp; debugging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862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via polymorphism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4348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real-world modeling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16916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GUI-based desktop applications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22402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development &amp; simulations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788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27889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/ CAM and modeling systems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337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3375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databases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3886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38862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embedded systems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4434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44348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frameworks and enterprise software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OOP — The Four Pillars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212080" cy="2194560"/>
          </a:xfrm>
          <a:prstGeom prst="rect">
            <a:avLst/>
          </a:prstGeom>
          <a:solidFill>
            <a:srgbClr val="F5F5F5"/>
          </a:solidFill>
          <a:ln w="1905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6276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&amp; methods together; hiding internal details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371600"/>
            <a:ext cx="5212080" cy="2194560"/>
          </a:xfrm>
          <a:prstGeom prst="rect">
            <a:avLst/>
          </a:prstGeom>
          <a:solidFill>
            <a:srgbClr val="F5F5F5"/>
          </a:solidFill>
          <a:ln w="19050">
            <a:solidFill>
              <a:srgbClr val="0D47A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645920"/>
            <a:ext cx="548640" cy="548640"/>
          </a:xfrm>
          <a:prstGeom prst="rect">
            <a:avLst/>
          </a:prstGeom>
          <a:solidFill>
            <a:srgbClr val="0D47A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78040" y="16276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4652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only essential features, hiding complexity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5212080" cy="2194560"/>
          </a:xfrm>
          <a:prstGeom prst="rect">
            <a:avLst/>
          </a:prstGeom>
          <a:solidFill>
            <a:srgbClr val="F5F5F5"/>
          </a:solidFill>
          <a:ln w="19050">
            <a:solidFill>
              <a:srgbClr val="00A89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54864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400" y="4892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acquires properties &amp; behavior of another class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3886200"/>
            <a:ext cx="5212080" cy="2194560"/>
          </a:xfrm>
          <a:prstGeom prst="rect">
            <a:avLst/>
          </a:prstGeom>
          <a:solidFill>
            <a:srgbClr val="F5F5F5"/>
          </a:solidFill>
          <a:ln w="19050">
            <a:solidFill>
              <a:srgbClr val="9D1E2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solidFill>
            <a:srgbClr val="9D1E27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4142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D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46520" y="4892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interface, different underlying implementations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OOP — Quick Examples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1280160"/>
            <a:ext cx="8138160" cy="105156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Account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private: double balance;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public: void deposit(double a);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47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91840" y="2514600"/>
            <a:ext cx="8138160" cy="105156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Shape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public: virtual double area() = 0;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  // interface 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3749040"/>
            <a:ext cx="8138160" cy="105156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 ... };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: public Animal { ... };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98348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D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4983480"/>
            <a:ext cx="8138160" cy="105156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Shape* s = new Circle();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s-&gt;area(); // resolved at runtime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bstraction">
            <a:extLst>
              <a:ext uri="{FF2B5EF4-FFF2-40B4-BE49-F238E27FC236}">
                <a16:creationId xmlns:a16="http://schemas.microsoft.com/office/drawing/2014/main" id="{6E48D008-6F3B-27F8-EFC1-9ED84E8D4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5" y="381000"/>
            <a:ext cx="6553199" cy="3276600"/>
          </a:xfrm>
          <a:prstGeom prst="rect">
            <a:avLst/>
          </a:prstGeom>
        </p:spPr>
      </p:pic>
      <p:pic>
        <p:nvPicPr>
          <p:cNvPr id="3" name="Picture 2" descr="Encapsulation">
            <a:extLst>
              <a:ext uri="{FF2B5EF4-FFF2-40B4-BE49-F238E27FC236}">
                <a16:creationId xmlns:a16="http://schemas.microsoft.com/office/drawing/2014/main" id="{1C9D2F65-3F3A-A367-060C-7EF777680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796145"/>
            <a:ext cx="5361709" cy="268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6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heritance-660x454">
            <a:extLst>
              <a:ext uri="{FF2B5EF4-FFF2-40B4-BE49-F238E27FC236}">
                <a16:creationId xmlns:a16="http://schemas.microsoft.com/office/drawing/2014/main" id="{16096597-FBBF-7096-F66E-A0769FF8C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609" y="449407"/>
            <a:ext cx="5127136" cy="3526848"/>
          </a:xfrm>
          <a:prstGeom prst="rect">
            <a:avLst/>
          </a:prstGeom>
        </p:spPr>
      </p:pic>
      <p:pic>
        <p:nvPicPr>
          <p:cNvPr id="3" name="Picture 2" descr="Polymorphysm">
            <a:extLst>
              <a:ext uri="{FF2B5EF4-FFF2-40B4-BE49-F238E27FC236}">
                <a16:creationId xmlns:a16="http://schemas.microsoft.com/office/drawing/2014/main" id="{FE3749FB-2A84-63FF-0ADE-B61003555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76255"/>
            <a:ext cx="5444836" cy="272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25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Tricky Example #2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332720" y="365760"/>
            <a:ext cx="100584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ENCAPSULATION &amp; ACCESS CONTROL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669280" cy="384048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Account {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balance;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Account(int b) { balance = b; }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show() { cout &lt;&lt; balance; }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 a(100);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a.balance = 500;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a.show();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75120" y="1463040"/>
            <a:ext cx="475488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20574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code compile? If not, why not?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43891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at where balance is declared, and where it is being accessed from.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Tricky Example #2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02920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51560" y="265176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private by default (class members are private unless stated otherwise)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a.balance = 500; tries to access a private member from outside the class (in main)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374904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rejects it: “balance is a private member of Account”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429768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member functions of Account (like the constructor or show()) may touch balance directly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4846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484632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encapsulation working as intended — external code must go through public methods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&amp; Public Members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237744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DDDDDD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26080" y="1234440"/>
            <a:ext cx="868680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DDDDDD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377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828800"/>
            <a:ext cx="8686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member functions of the same class (default for class)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237744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2423160"/>
            <a:ext cx="868680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the object is visible — inside or outside the class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377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3017520"/>
            <a:ext cx="8686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class and derived classes (brief note, covered under inheritance)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20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ACC907-23FC-B1E0-293A-D42C05DB3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1011"/>
            <a:ext cx="6373114" cy="29341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Tricky Example #4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332720" y="365760"/>
            <a:ext cx="100584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WHAT “PRIVATE” REALLY MEANS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669280" cy="402336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Box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side;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Box(int s) { side = s;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compare(Box b)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(side &gt; b.side)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cout &lt;&lt; "Bigger";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cout &lt;&lt; "Smaller or equal";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 b1(10), b2(5);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b1.compare(b2);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75120" y="1463040"/>
            <a:ext cx="4754880" cy="4023360"/>
          </a:xfrm>
          <a:prstGeom prst="rect">
            <a:avLst/>
          </a:prstGeom>
          <a:solidFill>
            <a:srgbClr val="F5F5F5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20574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b.side inside compare() compile, given side is private?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45262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a different object of the SAME class — does “private” mean “this object only”, or “this class only”?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Tricky Example #4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6576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it compiles!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651760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specifiers apply at the class level, not the object level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1821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182112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function of Box can access the private members of ANY Box object — not just “this” object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124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712464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b.side is legal inside compare() because compare() is itself a member of the Box class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2428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4242816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“Bigger” (b1.side = 10 &gt; b2.side = 5)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7731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773168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misconception: “private = only this instance”. Correct rule: “private = only code inside this class”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Data Member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60120" y="1280160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the static keyword inside the class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18470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ALL objects of the class — only one copy exists in memory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" y="24140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2414016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defined (and usually initialized) outside the class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" y="29809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2980944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even if no object has been created yet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" y="35478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3547872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use: counting how many objects exist, shared configuration values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675120" y="1280160"/>
            <a:ext cx="4754880" cy="393192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Counter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count;   // declaration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Counter() { count++; 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getCount() { return count; 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definition + initialization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Counter::count = 0;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 s1, s2, s3;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c1.getCount(); // 3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360FE4-282E-0E09-5B36-0CDBB3FAC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7" y="247580"/>
            <a:ext cx="7275229" cy="61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71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Member Function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60120" y="1280160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static; belongs to the class, not to any one object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18470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called using the class name: ClassName::function()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" y="24140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2414016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called even before any object is created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" y="29809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2980944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directly access only static members (no access to “this” pointer)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" y="35478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3547872"/>
            <a:ext cx="55321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declared const or virtual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675120" y="1280160"/>
            <a:ext cx="4754880" cy="393192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Counter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count;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Counter() { count++; }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getCount()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count;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}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Counter::count = 0;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Counter::getCount(); // call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Tricky Example #5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332720" y="365760"/>
            <a:ext cx="100584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STATIC DATA MEMBERS + COPY CONSTRUCTOR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669280" cy="402336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Counter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count;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Counter() { count++;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getCount() { return count; }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Counter::count = 0;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 c1, c2;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 c3 = c1;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Counter::getCount();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75120" y="1463040"/>
            <a:ext cx="4754880" cy="4023360"/>
          </a:xfrm>
          <a:prstGeom prst="rect">
            <a:avLst/>
          </a:prstGeom>
          <a:solidFill>
            <a:srgbClr val="F5F5F5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20574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number is printed? (Most people confidently answer 3 — are they right?)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45720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Counter c3 = c1; run through the constructor that does count++?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Tricky Example #5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292608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651760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and c2 are created with Counter() — each call runs count++, so count becomes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1821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182112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c3 = c1; is a copy initialization — it calls the compiler-generated COPY constructor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124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712464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copy constructor only copies member values; it does NOT call Counter() and does NOT run count++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2428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4242816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count stays at 2, even though 3 objects (c1, c2, c3) now exist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7731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773168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trips up almost everyone — static counters must account for copy construction separately if you want a true object count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0120" y="1280160"/>
            <a:ext cx="101955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constructor is a special member function that initializes an object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0195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901952"/>
            <a:ext cx="101955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SAME name as the class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5237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523744"/>
            <a:ext cx="101955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return type — not even void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145536"/>
            <a:ext cx="101955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automatically the moment an object is created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7673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767328"/>
            <a:ext cx="101955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overloaded — a class may have multiple constructors with different parameters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10725912" cy="173736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Point {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x, y;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Point() { x = 0; y = 0; }     // constructor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Point p;   // constructor runs automatically here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Constructors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5661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Constructor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9019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no parameters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3566160" cy="155448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Point()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0; y = 0;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251960" y="1280160"/>
            <a:ext cx="35661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Constructor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51960" y="19019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arguments to set initial values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51960" y="2651760"/>
            <a:ext cx="3566160" cy="155448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Point(int a, int b)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a; y = b;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0" y="1280160"/>
            <a:ext cx="35661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Constructor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0" y="19019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object from another object of the same class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2651760"/>
            <a:ext cx="3566160" cy="155448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Point(const Point &amp;p)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p.x; y = p.y;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11091672" cy="118872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p1;              // default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p2(3, 4);         // parameterized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p3 = p2;           // copy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Tricky Example #6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332720" y="365760"/>
            <a:ext cx="100584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CONSTRUCTORS — THE VANISHING DEFAULT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669280" cy="365760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Demo {</a:t>
            </a:r>
            <a:endParaRPr lang="en-US" sz="15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5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Demo(int x) {</a:t>
            </a:r>
            <a:endParaRPr lang="en-US" sz="15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x;</a:t>
            </a:r>
            <a:endParaRPr lang="en-US" sz="15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50" dirty="0"/>
          </a:p>
          <a:p>
            <a:pPr marL="0" indent="0" algn="l">
              <a:lnSpc>
                <a:spcPct val="125000"/>
              </a:lnSpc>
              <a:buNone/>
            </a:pPr>
            <a:endParaRPr lang="en-US" sz="15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5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Demo d;</a:t>
            </a:r>
            <a:endParaRPr lang="en-US" sz="15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75120" y="1463040"/>
            <a:ext cx="4754880" cy="3657600"/>
          </a:xfrm>
          <a:prstGeom prst="rect">
            <a:avLst/>
          </a:prstGeom>
          <a:solidFill>
            <a:srgbClr val="F5F5F5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20574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Demo d; compile?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40233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class only has a parameterized constructor, does the compiler still hand you a free default constructor?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Tricky Example #6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02920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51560" y="265176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generates a default constructor ONLY if you define NO constructor at all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Demo(int x) is defined, so the free auto-generated Demo() disappears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374904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d; needs a no-argument constructor — none exists — compile error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429768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either call Demo d(5); or add an explicit Demo() {} yourself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4846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4846320"/>
            <a:ext cx="10012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common interview trap: “writing any constructor removes the compiler's default one”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896"/>
                </a:solidFill>
              </a:rPr>
              <a:t>●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60120" y="1280160"/>
            <a:ext cx="101955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destructor is a special member function that cleans up when an object's life ends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18470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896"/>
                </a:solidFill>
              </a:rPr>
              <a:t>●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101955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 as the class, prefixed with a tilde: ~ClassName()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24140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896"/>
                </a:solidFill>
              </a:rPr>
              <a:t>●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2414016"/>
            <a:ext cx="101955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NO parameters and returns NO value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" y="29809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896"/>
                </a:solidFill>
              </a:rPr>
              <a:t>●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2980944"/>
            <a:ext cx="101955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overloaded — a class has exactly one destructor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0080" y="35478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896"/>
                </a:solidFill>
              </a:rPr>
              <a:t>●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3547872"/>
            <a:ext cx="101955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automatically when an object goes out of scope, or is deleted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10725912" cy="192024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FileHandler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FileHandler()  { cout &lt;&lt; "File opened\n"; }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~FileHandler() { cout &lt;&lt; "File closed\n"; }  // destructor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FileHandler f;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// f goes out of scope here -&gt; destructor runs -&gt; "File closed"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Tricky Example #3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332720" y="365760"/>
            <a:ext cx="100584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OBJECT CREATION &amp; COPY BEHAVIOR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669280" cy="3840480"/>
          </a:xfrm>
          <a:prstGeom prst="rect">
            <a:avLst/>
          </a:prstGeom>
          <a:solidFill>
            <a:srgbClr val="1E272E"/>
          </a:solidFill>
          <a:ln/>
        </p:spPr>
        <p:txBody>
          <a:bodyPr wrap="square" lIns="1905" tIns="1905" rIns="1905" bIns="190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 {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a;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Test() { cout &lt;&lt; "Constructor called "; }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 t1;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 t2 = t1;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 t3(t1);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t2.a;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75120" y="1463040"/>
            <a:ext cx="475488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20574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does “Constructor called” print?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43891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t1, t2, and t3 all become objects — but are they all created the same way?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18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890445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Tricky Example #3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292608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1E276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once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2651760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Test t1; calls the user-defined default constructor Test()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1821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182112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t2 = t1; and Test t3(t1); both invoke the compiler-generated copy constructor — NOT Test()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124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712464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“Constructor called” prints exactly once, not three times as many people guess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2428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4242816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t2.a and t3.a hold whatever garbage value t1.a had (a was never initialized)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7731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773168"/>
            <a:ext cx="1001268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initializing an object from another existing object always goes through the copy constructor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51615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</a:rPr>
              <a:t>19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41153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8E7532E-A15D-52F7-3660-4ABE84D56843}"/>
              </a:ext>
            </a:extLst>
          </p:cNvPr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 function</a:t>
            </a:r>
            <a:endParaRPr lang="en-US" sz="3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262D2F9-9A9E-66E5-73EF-A98FE71F19BB}"/>
              </a:ext>
            </a:extLst>
          </p:cNvPr>
          <p:cNvSpPr/>
          <p:nvPr/>
        </p:nvSpPr>
        <p:spPr>
          <a:xfrm>
            <a:off x="548640" y="1019555"/>
            <a:ext cx="10195560" cy="5298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A </a:t>
            </a:r>
            <a:r>
              <a:rPr lang="en-US" sz="1600" b="1" dirty="0"/>
              <a:t>friend function</a:t>
            </a:r>
            <a:r>
              <a:rPr lang="en-US" sz="1600" dirty="0"/>
              <a:t> is a normal function that is given special permission to access the </a:t>
            </a:r>
            <a:r>
              <a:rPr lang="en-US" sz="1600" b="1" dirty="0"/>
              <a:t>private and protected members</a:t>
            </a:r>
            <a:r>
              <a:rPr lang="en-US" sz="1600" dirty="0"/>
              <a:t> of a class.</a:t>
            </a:r>
          </a:p>
          <a:p>
            <a:endParaRPr lang="en-US" sz="1600" dirty="0"/>
          </a:p>
          <a:p>
            <a:r>
              <a:rPr lang="en-US" sz="1600" dirty="0"/>
              <a:t>🔐 Private members = "Only class members can access me."</a:t>
            </a:r>
            <a:br>
              <a:rPr lang="en-US" sz="1600" dirty="0"/>
            </a:br>
            <a:r>
              <a:rPr lang="en-US" sz="1600" dirty="0"/>
              <a:t>🤝 Friend function = "This particular outside function is allowed to access me.“</a:t>
            </a:r>
          </a:p>
          <a:p>
            <a:endParaRPr lang="en-US" sz="1600" dirty="0"/>
          </a:p>
          <a:p>
            <a:endParaRPr lang="en-US" sz="16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932255-83D4-C195-2EBA-52E4A2479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48" y="2787427"/>
            <a:ext cx="2366625" cy="308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1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2698</Words>
  <Application>Microsoft Office PowerPoint</Application>
  <PresentationFormat>Widescreen</PresentationFormat>
  <Paragraphs>565</Paragraphs>
  <Slides>37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Cambria</vt:lpstr>
      <vt:lpstr>Courier New</vt:lpstr>
      <vt:lpstr>Trebuchet MS</vt:lpstr>
      <vt:lpstr>Wingdings 3</vt:lpstr>
      <vt:lpstr>Office Theme</vt:lpstr>
      <vt:lpstr>Facet</vt:lpstr>
      <vt:lpstr>PowerPoint Presentation</vt:lpstr>
      <vt:lpstr>PowerPoint Presentation</vt:lpstr>
      <vt:lpstr>PowerPoint Presentation</vt:lpstr>
      <vt:lpstr>Method Overloading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Pinkeshkumar Patel</cp:lastModifiedBy>
  <cp:revision>8</cp:revision>
  <dcterms:created xsi:type="dcterms:W3CDTF">2026-07-07T14:32:31Z</dcterms:created>
  <dcterms:modified xsi:type="dcterms:W3CDTF">2026-09-02T15:06:24Z</dcterms:modified>
</cp:coreProperties>
</file>